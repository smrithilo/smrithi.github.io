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g3fac9bfc43d_16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g3fac9bfc43d_16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Open with the central question: what does it take to convert a small set of chemistry demonstrations into reliable, multi-stage execution on physical robots? Emphasize that this is an end-to-end systems project, not only a policy-training project.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User-provided needle.mp4</a:t>
            </a:r>
            <a:endParaRPr/>
          </a:p>
          <a:p>
            <a:pPr indent="0" lvl="0" marL="0" rtl="0" algn="l">
              <a:spcBef>
                <a:spcPts val="0"/>
              </a:spcBef>
              <a:spcAft>
                <a:spcPts val="0"/>
              </a:spcAft>
              <a:buNone/>
            </a:pPr>
            <a:r>
              <a:rPr lang="en-US" sz="1200"/>
              <a:t>[/Sources]</a:t>
            </a:r>
            <a:endParaRPr/>
          </a:p>
        </p:txBody>
      </p:sp>
      <p:sp>
        <p:nvSpPr>
          <p:cNvPr id="14" name="Google Shape;14;g3fac9bfc43d_16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g3fac9bfc43d_16_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 name="Google Shape;24;g3fac9bfc43d_16_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Explain that success labels evolved with chemist feedback. Use the screw-cap versus press-on-lid example and the redesigned spatulas/clamps. The scientific objective constrained what counted as a valid rollout.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User-provided project description</a:t>
            </a:r>
            <a:endParaRPr/>
          </a:p>
          <a:p>
            <a:pPr indent="0" lvl="0" marL="0" rtl="0" algn="l">
              <a:spcBef>
                <a:spcPts val="0"/>
              </a:spcBef>
              <a:spcAft>
                <a:spcPts val="0"/>
              </a:spcAft>
              <a:buNone/>
            </a:pPr>
            <a:r>
              <a:rPr lang="en-US" sz="1200"/>
              <a:t>- Open Science Stack collaboration notes provided in conversation</a:t>
            </a:r>
            <a:endParaRPr/>
          </a:p>
          <a:p>
            <a:pPr indent="0" lvl="0" marL="0" rtl="0" algn="l">
              <a:spcBef>
                <a:spcPts val="0"/>
              </a:spcBef>
              <a:spcAft>
                <a:spcPts val="0"/>
              </a:spcAft>
              <a:buNone/>
            </a:pPr>
            <a:r>
              <a:rPr lang="en-US" sz="1200"/>
              <a:t>[/Sources]</a:t>
            </a:r>
            <a:endParaRPr/>
          </a:p>
        </p:txBody>
      </p:sp>
      <p:sp>
        <p:nvSpPr>
          <p:cNvPr id="25" name="Google Shape;25;g3fac9bfc43d_16_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fac9bfc43d_16_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 name="Google Shape;49;g3fac9bfc43d_16_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Clarify that synchronization was software-level sampling in one 10 Hz loop, not hardware-triggered synchronization. State and action were both 14-D: six UR3e joints plus gripper per arm. The images and numerical trajectories were stored in the LeRobot schema.</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User-provided lerobot_ros2-dagger_re codebase</a:t>
            </a:r>
            <a:endParaRPr/>
          </a:p>
          <a:p>
            <a:pPr indent="0" lvl="0" marL="0" rtl="0" algn="l">
              <a:spcBef>
                <a:spcPts val="0"/>
              </a:spcBef>
              <a:spcAft>
                <a:spcPts val="0"/>
              </a:spcAft>
              <a:buNone/>
            </a:pPr>
            <a:r>
              <a:rPr lang="en-US" sz="1200"/>
              <a:t>- config/gello.yaml</a:t>
            </a:r>
            <a:endParaRPr/>
          </a:p>
          <a:p>
            <a:pPr indent="0" lvl="0" marL="0" rtl="0" algn="l">
              <a:spcBef>
                <a:spcPts val="0"/>
              </a:spcBef>
              <a:spcAft>
                <a:spcPts val="0"/>
              </a:spcAft>
              <a:buNone/>
            </a:pPr>
            <a:r>
              <a:rPr lang="en-US" sz="1200"/>
              <a:t>- record.py and data_loader.py</a:t>
            </a:r>
            <a:endParaRPr/>
          </a:p>
          <a:p>
            <a:pPr indent="0" lvl="0" marL="0" rtl="0" algn="l">
              <a:spcBef>
                <a:spcPts val="0"/>
              </a:spcBef>
              <a:spcAft>
                <a:spcPts val="0"/>
              </a:spcAft>
              <a:buNone/>
            </a:pPr>
            <a:r>
              <a:rPr lang="en-US" sz="1200"/>
              <a:t>[/Sources]</a:t>
            </a:r>
            <a:endParaRPr/>
          </a:p>
        </p:txBody>
      </p:sp>
      <p:sp>
        <p:nvSpPr>
          <p:cNvPr id="50" name="Google Shape;50;g3fac9bfc43d_16_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fac9bfc43d_16_6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g3fac9bfc43d_16_6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Do not present these as equivalent tricks. Plateau removal changes which frames supervise learning; history targets partial observability; DAgger targets the state-distribution mismatch; LBM fine-tuning tests cross-task transfer. Mention that variants were sometimes combined.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User-provided lerobot_ros2-dagger_re codebase</a:t>
            </a:r>
            <a:endParaRPr/>
          </a:p>
          <a:p>
            <a:pPr indent="0" lvl="0" marL="0" rtl="0" algn="l">
              <a:spcBef>
                <a:spcPts val="0"/>
              </a:spcBef>
              <a:spcAft>
                <a:spcPts val="0"/>
              </a:spcAft>
              <a:buNone/>
            </a:pPr>
            <a:r>
              <a:rPr lang="en-US" sz="1200"/>
              <a:t>- canonicalize.py</a:t>
            </a:r>
            <a:endParaRPr/>
          </a:p>
          <a:p>
            <a:pPr indent="0" lvl="0" marL="0" rtl="0" algn="l">
              <a:spcBef>
                <a:spcPts val="0"/>
              </a:spcBef>
              <a:spcAft>
                <a:spcPts val="0"/>
              </a:spcAft>
              <a:buNone/>
            </a:pPr>
            <a:r>
              <a:rPr lang="en-US" sz="1200"/>
              <a:t>- plateau.py</a:t>
            </a:r>
            <a:endParaRPr/>
          </a:p>
          <a:p>
            <a:pPr indent="0" lvl="0" marL="0" rtl="0" algn="l">
              <a:spcBef>
                <a:spcPts val="0"/>
              </a:spcBef>
              <a:spcAft>
                <a:spcPts val="0"/>
              </a:spcAft>
              <a:buNone/>
            </a:pPr>
            <a:r>
              <a:rPr lang="en-US" sz="1200"/>
              <a:t>- dagger.py</a:t>
            </a:r>
            <a:endParaRPr/>
          </a:p>
          <a:p>
            <a:pPr indent="0" lvl="0" marL="0" rtl="0" algn="l">
              <a:spcBef>
                <a:spcPts val="0"/>
              </a:spcBef>
              <a:spcAft>
                <a:spcPts val="0"/>
              </a:spcAft>
              <a:buNone/>
            </a:pPr>
            <a:r>
              <a:rPr lang="en-US" sz="1200"/>
              <a:t>- strided/action-history policy plugins</a:t>
            </a:r>
            <a:endParaRPr/>
          </a:p>
          <a:p>
            <a:pPr indent="0" lvl="0" marL="0" rtl="0" algn="l">
              <a:spcBef>
                <a:spcPts val="0"/>
              </a:spcBef>
              <a:spcAft>
                <a:spcPts val="0"/>
              </a:spcAft>
              <a:buNone/>
            </a:pPr>
            <a:r>
              <a:rPr lang="en-US" sz="1200"/>
              <a:t>[/Sources]</a:t>
            </a:r>
            <a:endParaRPr/>
          </a:p>
        </p:txBody>
      </p:sp>
      <p:sp>
        <p:nvSpPr>
          <p:cNvPr id="82" name="Google Shape;82;g3fac9bfc43d_16_6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fac9bfc43d_16_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g3fac9bfc43d_16_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Explain the closed-loop versus smoothness tradeoff. Mention that needle sweeps included checkpoints at 20k and 40k, action-step values 2/4/8/16/32, and inference-step values 20/30. The final behavior had to be selected through repeated physical deployment.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Google Sheet: needle — Jul 3, Jul 6, jul 9, Jul 17 tabs</a:t>
            </a:r>
            <a:endParaRPr/>
          </a:p>
          <a:p>
            <a:pPr indent="0" lvl="0" marL="0" rtl="0" algn="l">
              <a:spcBef>
                <a:spcPts val="0"/>
              </a:spcBef>
              <a:spcAft>
                <a:spcPts val="0"/>
              </a:spcAft>
              <a:buNone/>
            </a:pPr>
            <a:r>
              <a:rPr lang="en-US" sz="1200"/>
              <a:t>- User-provided deployment logs</a:t>
            </a:r>
            <a:endParaRPr/>
          </a:p>
          <a:p>
            <a:pPr indent="0" lvl="0" marL="0" rtl="0" algn="l">
              <a:spcBef>
                <a:spcPts val="0"/>
              </a:spcBef>
              <a:spcAft>
                <a:spcPts val="0"/>
              </a:spcAft>
              <a:buNone/>
            </a:pPr>
            <a:r>
              <a:rPr lang="en-US" sz="1200"/>
              <a:t>[/Sources]</a:t>
            </a:r>
            <a:endParaRPr/>
          </a:p>
        </p:txBody>
      </p:sp>
      <p:sp>
        <p:nvSpPr>
          <p:cNvPr id="112" name="Google Shape;112;g3fac9bfc43d_16_9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ac9bfc43d_16_1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g3fac9bfc43d_16_1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These are measured rollout success percentages. Avoid saying the LBM always outperformed scratch. The important result is that fine-tuning recovered transferable structure for needle and uncap, while cap remained difficult.</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Weekly_analysis.pptx</a:t>
            </a:r>
            <a:endParaRPr/>
          </a:p>
          <a:p>
            <a:pPr indent="0" lvl="0" marL="0" rtl="0" algn="l">
              <a:spcBef>
                <a:spcPts val="0"/>
              </a:spcBef>
              <a:spcAft>
                <a:spcPts val="0"/>
              </a:spcAft>
              <a:buNone/>
            </a:pPr>
            <a:r>
              <a:rPr lang="en-US" sz="1200"/>
              <a:t>- Google Sheets: needle, uncap, cap</a:t>
            </a:r>
            <a:endParaRPr/>
          </a:p>
          <a:p>
            <a:pPr indent="0" lvl="0" marL="0" rtl="0" algn="l">
              <a:spcBef>
                <a:spcPts val="0"/>
              </a:spcBef>
              <a:spcAft>
                <a:spcPts val="0"/>
              </a:spcAft>
              <a:buNone/>
            </a:pPr>
            <a:r>
              <a:rPr lang="en-US" sz="1200"/>
              <a:t>[/Sources]</a:t>
            </a:r>
            <a:endParaRPr/>
          </a:p>
        </p:txBody>
      </p:sp>
      <p:sp>
        <p:nvSpPr>
          <p:cNvPr id="137" name="Google Shape;137;g3fac9bfc43d_16_1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fac9bfc43d_16_1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g3fac9bfc43d_16_1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Explain why full-task success is lower than individual stage success: every stage must succeed in sequence. In LH1, solid and funnel-off reached 100% stage success, while funnel-on and septum remained weaker. LH2 used the 30k checkpoint with K=8 and reached 35%, versus 5% scratch.</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Weekly_analysis.pptx</a:t>
            </a:r>
            <a:endParaRPr/>
          </a:p>
          <a:p>
            <a:pPr indent="0" lvl="0" marL="0" rtl="0" algn="l">
              <a:spcBef>
                <a:spcPts val="0"/>
              </a:spcBef>
              <a:spcAft>
                <a:spcPts val="0"/>
              </a:spcAft>
              <a:buNone/>
            </a:pPr>
            <a:r>
              <a:rPr lang="en-US" sz="1200"/>
              <a:t>- Google Sheets: long horizon1, long horizon2, long horizon3</a:t>
            </a:r>
            <a:endParaRPr/>
          </a:p>
          <a:p>
            <a:pPr indent="0" lvl="0" marL="0" rtl="0" algn="l">
              <a:spcBef>
                <a:spcPts val="0"/>
              </a:spcBef>
              <a:spcAft>
                <a:spcPts val="0"/>
              </a:spcAft>
              <a:buNone/>
            </a:pPr>
            <a:r>
              <a:rPr lang="en-US" sz="1200"/>
              <a:t>- User-provided syntehsis.mp4</a:t>
            </a:r>
            <a:endParaRPr/>
          </a:p>
          <a:p>
            <a:pPr indent="0" lvl="0" marL="0" rtl="0" algn="l">
              <a:spcBef>
                <a:spcPts val="0"/>
              </a:spcBef>
              <a:spcAft>
                <a:spcPts val="0"/>
              </a:spcAft>
              <a:buNone/>
            </a:pPr>
            <a:r>
              <a:rPr lang="en-US" sz="1200"/>
              <a:t>[/Sources]</a:t>
            </a:r>
            <a:endParaRPr/>
          </a:p>
        </p:txBody>
      </p:sp>
      <p:sp>
        <p:nvSpPr>
          <p:cNvPr id="156" name="Google Shape;156;g3fac9bfc43d_16_13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fac9bfc43d_16_17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fac9bfc43d_16_174: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g3fac9bfc43d_16_174: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ac9bfc43d_16_18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fac9bfc43d_16_188: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g3fac9bfc43d_16_188: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fac9bfc43d_16_20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g3fac9bfc43d_16_20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Close with the concrete motivation for tactile sensing: during septum insertion, the policy could see the needle and knew the robot configuration, but could not feel whether it had contacted or penetrated the septum or how much pressure it applied. This is the direct bridge to future tactile-conditioned data and policies.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User-provided needle.mp4</a:t>
            </a:r>
            <a:endParaRPr/>
          </a:p>
          <a:p>
            <a:pPr indent="0" lvl="0" marL="0" rtl="0" algn="l">
              <a:spcBef>
                <a:spcPts val="0"/>
              </a:spcBef>
              <a:spcAft>
                <a:spcPts val="0"/>
              </a:spcAft>
              <a:buNone/>
            </a:pPr>
            <a:r>
              <a:rPr lang="en-US" sz="1200"/>
              <a:t>- User-provided project observations</a:t>
            </a:r>
            <a:endParaRPr/>
          </a:p>
          <a:p>
            <a:pPr indent="0" lvl="0" marL="0" rtl="0" algn="l">
              <a:spcBef>
                <a:spcPts val="0"/>
              </a:spcBef>
              <a:spcAft>
                <a:spcPts val="0"/>
              </a:spcAft>
              <a:buNone/>
            </a:pPr>
            <a:r>
              <a:rPr lang="en-US" sz="1200"/>
              <a:t>[/Sources]</a:t>
            </a:r>
            <a:endParaRPr/>
          </a:p>
        </p:txBody>
      </p:sp>
      <p:sp>
        <p:nvSpPr>
          <p:cNvPr id="225" name="Google Shape;225;g3fac9bfc43d_16_20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Open with the core extension: unit cubes become heterogeneous cuboids, so occupancy and motion depend on orientation. Position this as an end-to-end planning project across abstraction levels.</a:t>
            </a:r>
            <a:endParaRPr/>
          </a:p>
          <a:p>
            <a:pPr indent="0" lvl="0" marL="0" rtl="0" algn="l">
              <a:spcBef>
                <a:spcPts val="0"/>
              </a:spcBef>
              <a:spcAft>
                <a:spcPts val="0"/>
              </a:spcAft>
              <a:buSzPts val="1200"/>
              <a:buNone/>
            </a:pPr>
            <a:r>
              <a:t/>
            </a:r>
            <a:endParaRPr sz="1200"/>
          </a:p>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Final presentation: Smrithi Lokesh.pptx, slides 20–35</a:t>
            </a:r>
            <a:endParaRPr/>
          </a:p>
          <a:p>
            <a:pPr indent="0" lvl="0" marL="0" rtl="0" algn="l">
              <a:spcBef>
                <a:spcPts val="0"/>
              </a:spcBef>
              <a:spcAft>
                <a:spcPts val="0"/>
              </a:spcAft>
              <a:buSzPts val="1200"/>
              <a:buNone/>
            </a:pPr>
            <a:r>
              <a:rPr lang="en-US" sz="1200"/>
              <a:t>[/Sources]</a:t>
            </a:r>
            <a:endParaRPr/>
          </a:p>
        </p:txBody>
      </p:sp>
      <p:sp>
        <p:nvSpPr>
          <p:cNvPr id="242" name="Google Shape;242;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9" name="Google Shape;25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Walk left to right. The interfaces matter: abstract A* outputs actions; access checks establish executability; the ADG exposes concurrency; allocation and CBS produce robot paths.</a:t>
            </a:r>
            <a:endParaRPr/>
          </a:p>
          <a:p>
            <a:pPr indent="0" lvl="0" marL="0" rtl="0" algn="l">
              <a:spcBef>
                <a:spcPts val="0"/>
              </a:spcBef>
              <a:spcAft>
                <a:spcPts val="0"/>
              </a:spcAft>
              <a:buSzPts val="1200"/>
              <a:buNone/>
            </a:pPr>
            <a:r>
              <a:t/>
            </a:r>
            <a:endParaRPr sz="1200"/>
          </a:p>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Final presentation: Smrithi Lokesh.pptx, slides 20, 30–34</a:t>
            </a:r>
            <a:endParaRPr/>
          </a:p>
          <a:p>
            <a:pPr indent="0" lvl="0" marL="0" rtl="0" algn="l">
              <a:spcBef>
                <a:spcPts val="0"/>
              </a:spcBef>
              <a:spcAft>
                <a:spcPts val="0"/>
              </a:spcAft>
              <a:buSzPts val="1200"/>
              <a:buNone/>
            </a:pPr>
            <a:r>
              <a:rPr lang="en-US" sz="1200"/>
              <a:t>- Prior ETH Zürich preparation context</a:t>
            </a:r>
            <a:endParaRPr/>
          </a:p>
          <a:p>
            <a:pPr indent="0" lvl="0" marL="0" rtl="0" algn="l">
              <a:spcBef>
                <a:spcPts val="0"/>
              </a:spcBef>
              <a:spcAft>
                <a:spcPts val="0"/>
              </a:spcAft>
              <a:buSzPts val="1200"/>
              <a:buNone/>
            </a:pPr>
            <a:r>
              <a:rPr lang="en-US" sz="1200"/>
              <a:t>[/Sources]</a:t>
            </a:r>
            <a:endParaRPr/>
          </a:p>
        </p:txBody>
      </p:sp>
      <p:sp>
        <p:nvSpPr>
          <p:cNvPr id="260" name="Google Shape;26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5" name="Google Shape;28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Do not claim the new heuristic dominated. It was more informative but expensive; caching introduced correctness subtleties; ARA* could still be slowed by repeated heuristic evaluation.</a:t>
            </a:r>
            <a:endParaRPr/>
          </a:p>
          <a:p>
            <a:pPr indent="0" lvl="0" marL="0" rtl="0" algn="l">
              <a:spcBef>
                <a:spcPts val="0"/>
              </a:spcBef>
              <a:spcAft>
                <a:spcPts val="0"/>
              </a:spcAft>
              <a:buSzPts val="1200"/>
              <a:buNone/>
            </a:pPr>
            <a:r>
              <a:t/>
            </a:r>
            <a:endParaRPr sz="1200"/>
          </a:p>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Final presentation: Smrithi Lokesh.pptx, slides 3–19</a:t>
            </a:r>
            <a:endParaRPr/>
          </a:p>
          <a:p>
            <a:pPr indent="0" lvl="0" marL="0" rtl="0" algn="l">
              <a:spcBef>
                <a:spcPts val="0"/>
              </a:spcBef>
              <a:spcAft>
                <a:spcPts val="0"/>
              </a:spcAft>
              <a:buSzPts val="1200"/>
              <a:buNone/>
            </a:pPr>
            <a:r>
              <a:rPr lang="en-US" sz="1200"/>
              <a:t>- GitHub commit-history PDFs supplied in Google Drive</a:t>
            </a:r>
            <a:endParaRPr/>
          </a:p>
          <a:p>
            <a:pPr indent="0" lvl="0" marL="0" rtl="0" algn="l">
              <a:spcBef>
                <a:spcPts val="0"/>
              </a:spcBef>
              <a:spcAft>
                <a:spcPts val="0"/>
              </a:spcAft>
              <a:buSzPts val="1200"/>
              <a:buNone/>
            </a:pPr>
            <a:r>
              <a:rPr lang="en-US" sz="1200"/>
              <a:t>[/Sources]</a:t>
            </a:r>
            <a:endParaRPr/>
          </a:p>
        </p:txBody>
      </p:sp>
      <p:sp>
        <p:nvSpPr>
          <p:cNvPr id="286" name="Google Shape;28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Use the figure to show how the same helper functions change when blocks occupy several cells and robots may approach with different roll/pitch/yaw.</a:t>
            </a:r>
            <a:endParaRPr/>
          </a:p>
          <a:p>
            <a:pPr indent="0" lvl="0" marL="0" rtl="0" algn="l">
              <a:spcBef>
                <a:spcPts val="0"/>
              </a:spcBef>
              <a:spcAft>
                <a:spcPts val="0"/>
              </a:spcAft>
              <a:buSzPts val="1200"/>
              <a:buNone/>
            </a:pPr>
            <a:r>
              <a:t/>
            </a:r>
            <a:endParaRPr sz="1200"/>
          </a:p>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Final presentation: Smrithi Lokesh.pptx, slides 21–24</a:t>
            </a:r>
            <a:endParaRPr/>
          </a:p>
          <a:p>
            <a:pPr indent="0" lvl="0" marL="0" rtl="0" algn="l">
              <a:spcBef>
                <a:spcPts val="0"/>
              </a:spcBef>
              <a:spcAft>
                <a:spcPts val="0"/>
              </a:spcAft>
              <a:buSzPts val="1200"/>
              <a:buNone/>
            </a:pPr>
            <a:r>
              <a:rPr lang="en-US" sz="1200"/>
              <a:t>- GitHub commit-history PDFs supplied in Google Drive</a:t>
            </a:r>
            <a:endParaRPr/>
          </a:p>
          <a:p>
            <a:pPr indent="0" lvl="0" marL="0" rtl="0" algn="l">
              <a:spcBef>
                <a:spcPts val="0"/>
              </a:spcBef>
              <a:spcAft>
                <a:spcPts val="0"/>
              </a:spcAft>
              <a:buSzPts val="1200"/>
              <a:buNone/>
            </a:pPr>
            <a:r>
              <a:rPr lang="en-US" sz="1200"/>
              <a:t>[/Sources]</a:t>
            </a:r>
            <a:endParaRPr/>
          </a:p>
        </p:txBody>
      </p:sp>
      <p:sp>
        <p:nvSpPr>
          <p:cNvPr id="317" name="Google Shape;31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1" name="Google Shape;33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Use the figure to show how the same helper functions change when blocks occupy several cells and robots may approach with different roll/pitch/yaw.</a:t>
            </a:r>
            <a:endParaRPr/>
          </a:p>
          <a:p>
            <a:pPr indent="0" lvl="0" marL="0" rtl="0" algn="l">
              <a:spcBef>
                <a:spcPts val="0"/>
              </a:spcBef>
              <a:spcAft>
                <a:spcPts val="0"/>
              </a:spcAft>
              <a:buSzPts val="1200"/>
              <a:buNone/>
            </a:pPr>
            <a:r>
              <a:t/>
            </a:r>
            <a:endParaRPr sz="1200"/>
          </a:p>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Final presentation: Smrithi Lokesh.pptx, slides 21–24</a:t>
            </a:r>
            <a:endParaRPr/>
          </a:p>
          <a:p>
            <a:pPr indent="0" lvl="0" marL="0" rtl="0" algn="l">
              <a:spcBef>
                <a:spcPts val="0"/>
              </a:spcBef>
              <a:spcAft>
                <a:spcPts val="0"/>
              </a:spcAft>
              <a:buSzPts val="1200"/>
              <a:buNone/>
            </a:pPr>
            <a:r>
              <a:rPr lang="en-US" sz="1200"/>
              <a:t>- GitHub commit-history PDFs supplied in Google Drive</a:t>
            </a:r>
            <a:endParaRPr/>
          </a:p>
          <a:p>
            <a:pPr indent="0" lvl="0" marL="0" rtl="0" algn="l">
              <a:spcBef>
                <a:spcPts val="0"/>
              </a:spcBef>
              <a:spcAft>
                <a:spcPts val="0"/>
              </a:spcAft>
              <a:buSzPts val="1200"/>
              <a:buNone/>
            </a:pPr>
            <a:r>
              <a:rPr lang="en-US" sz="1200"/>
              <a:t>[/Sources]</a:t>
            </a:r>
            <a:endParaRPr/>
          </a:p>
        </p:txBody>
      </p:sp>
      <p:sp>
        <p:nvSpPr>
          <p:cNvPr id="332" name="Google Shape;33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Do not claim the new heuristic dominated. It was more informative but expensive; caching introduced correctness subtleties; ARA* could still be slowed by repeated heuristic evaluation.</a:t>
            </a:r>
            <a:endParaRPr/>
          </a:p>
          <a:p>
            <a:pPr indent="0" lvl="0" marL="0" rtl="0" algn="l">
              <a:spcBef>
                <a:spcPts val="0"/>
              </a:spcBef>
              <a:spcAft>
                <a:spcPts val="0"/>
              </a:spcAft>
              <a:buSzPts val="1200"/>
              <a:buNone/>
            </a:pPr>
            <a:r>
              <a:t/>
            </a:r>
            <a:endParaRPr sz="1200"/>
          </a:p>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Final presentation: Smrithi Lokesh.pptx, slides 3–19</a:t>
            </a:r>
            <a:endParaRPr/>
          </a:p>
          <a:p>
            <a:pPr indent="0" lvl="0" marL="0" rtl="0" algn="l">
              <a:spcBef>
                <a:spcPts val="0"/>
              </a:spcBef>
              <a:spcAft>
                <a:spcPts val="0"/>
              </a:spcAft>
              <a:buSzPts val="1200"/>
              <a:buNone/>
            </a:pPr>
            <a:r>
              <a:rPr lang="en-US" sz="1200"/>
              <a:t>- GitHub commit-history PDFs supplied in Google Drive</a:t>
            </a:r>
            <a:endParaRPr/>
          </a:p>
          <a:p>
            <a:pPr indent="0" lvl="0" marL="0" rtl="0" algn="l">
              <a:spcBef>
                <a:spcPts val="0"/>
              </a:spcBef>
              <a:spcAft>
                <a:spcPts val="0"/>
              </a:spcAft>
              <a:buSzPts val="1200"/>
              <a:buNone/>
            </a:pPr>
            <a:r>
              <a:rPr lang="en-US" sz="1200"/>
              <a:t>[/Sources]</a:t>
            </a:r>
            <a:endParaRPr/>
          </a:p>
        </p:txBody>
      </p:sp>
      <p:sp>
        <p:nvSpPr>
          <p:cNvPr id="352" name="Google Shape;352;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Close by connecting this work to a broader research direction: explicit high-level decisions can remain interpretable while continuous execution models or learned costs handle richer dynamics. Empirical paper context reports validation on 200 random structures and three cuboid types.</a:t>
            </a:r>
            <a:endParaRPr/>
          </a:p>
          <a:p>
            <a:pPr indent="0" lvl="0" marL="0" rtl="0" algn="l">
              <a:spcBef>
                <a:spcPts val="0"/>
              </a:spcBef>
              <a:spcAft>
                <a:spcPts val="0"/>
              </a:spcAft>
              <a:buSzPts val="1200"/>
              <a:buNone/>
            </a:pPr>
            <a:r>
              <a:t/>
            </a:r>
            <a:endParaRPr sz="1200"/>
          </a:p>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Prior ETH Zürich preparation context and IROS paper context</a:t>
            </a:r>
            <a:endParaRPr/>
          </a:p>
          <a:p>
            <a:pPr indent="0" lvl="0" marL="0" rtl="0" algn="l">
              <a:spcBef>
                <a:spcPts val="0"/>
              </a:spcBef>
              <a:spcAft>
                <a:spcPts val="0"/>
              </a:spcAft>
              <a:buSzPts val="1200"/>
              <a:buNone/>
            </a:pPr>
            <a:r>
              <a:rPr lang="en-US" sz="1200"/>
              <a:t>- Final presentation: Smrithi Lokesh.pptx</a:t>
            </a:r>
            <a:endParaRPr/>
          </a:p>
          <a:p>
            <a:pPr indent="0" lvl="0" marL="0" rtl="0" algn="l">
              <a:spcBef>
                <a:spcPts val="0"/>
              </a:spcBef>
              <a:spcAft>
                <a:spcPts val="0"/>
              </a:spcAft>
              <a:buSzPts val="1200"/>
              <a:buNone/>
            </a:pPr>
            <a:r>
              <a:rPr lang="en-US" sz="1200"/>
              <a:t>[/Sources]</a:t>
            </a:r>
            <a:endParaRPr/>
          </a:p>
        </p:txBody>
      </p:sp>
      <p:sp>
        <p:nvSpPr>
          <p:cNvPr id="383" name="Google Shape;38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f83d05d65a_0_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4" name="Google Shape;394;g3f83d05d65a_0_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CBS was adapted beyond point-agent vertex/edge conflicts because agents carry extended cuboids and interact with the changing structure and depot.</a:t>
            </a:r>
            <a:endParaRPr/>
          </a:p>
          <a:p>
            <a:pPr indent="0" lvl="0" marL="0" rtl="0" algn="l">
              <a:spcBef>
                <a:spcPts val="0"/>
              </a:spcBef>
              <a:spcAft>
                <a:spcPts val="0"/>
              </a:spcAft>
              <a:buSzPts val="1200"/>
              <a:buNone/>
            </a:pPr>
            <a:r>
              <a:t/>
            </a:r>
            <a:endParaRPr/>
          </a:p>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Final presentation: Smrithi Lokesh.pptx, slides 33–35</a:t>
            </a:r>
            <a:endParaRPr/>
          </a:p>
          <a:p>
            <a:pPr indent="0" lvl="0" marL="0" rtl="0" algn="l">
              <a:spcBef>
                <a:spcPts val="0"/>
              </a:spcBef>
              <a:spcAft>
                <a:spcPts val="0"/>
              </a:spcAft>
              <a:buSzPts val="1200"/>
              <a:buNone/>
            </a:pPr>
            <a:r>
              <a:rPr lang="en-US" sz="1200"/>
              <a:t>- GitHub commit-history PDFs supplied in Google Drive</a:t>
            </a:r>
            <a:endParaRPr/>
          </a:p>
          <a:p>
            <a:pPr indent="0" lvl="0" marL="0" rtl="0" algn="l">
              <a:spcBef>
                <a:spcPts val="0"/>
              </a:spcBef>
              <a:spcAft>
                <a:spcPts val="0"/>
              </a:spcAft>
              <a:buSzPts val="1200"/>
              <a:buNone/>
            </a:pPr>
            <a:r>
              <a:rPr lang="en-US" sz="1200"/>
              <a:t>[/Sources]</a:t>
            </a:r>
            <a:endParaRPr/>
          </a:p>
        </p:txBody>
      </p:sp>
      <p:sp>
        <p:nvSpPr>
          <p:cNvPr id="395" name="Google Shape;395;g3f83d05d65a_0_4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f83d05d65a_0_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g3f83d05d65a_0_5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Close by connecting this work to a broader research direction: explicit high-level decisions can remain interpretable while continuous execution models or learned costs handle richer dynamics. Empirical paper context reports validation on 200 random structures and three cuboid types.</a:t>
            </a:r>
            <a:endParaRPr/>
          </a:p>
          <a:p>
            <a:pPr indent="0" lvl="0" marL="0" rtl="0" algn="l">
              <a:spcBef>
                <a:spcPts val="0"/>
              </a:spcBef>
              <a:spcAft>
                <a:spcPts val="0"/>
              </a:spcAft>
              <a:buSzPts val="1200"/>
              <a:buNone/>
            </a:pPr>
            <a:r>
              <a:t/>
            </a:r>
            <a:endParaRPr sz="1200"/>
          </a:p>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Prior ETH Zürich preparation context and IROS paper context</a:t>
            </a:r>
            <a:endParaRPr/>
          </a:p>
          <a:p>
            <a:pPr indent="0" lvl="0" marL="0" rtl="0" algn="l">
              <a:spcBef>
                <a:spcPts val="0"/>
              </a:spcBef>
              <a:spcAft>
                <a:spcPts val="0"/>
              </a:spcAft>
              <a:buSzPts val="1200"/>
              <a:buNone/>
            </a:pPr>
            <a:r>
              <a:rPr lang="en-US" sz="1200"/>
              <a:t>- Final presentation: Smrithi Lokesh.pptx</a:t>
            </a:r>
            <a:endParaRPr/>
          </a:p>
          <a:p>
            <a:pPr indent="0" lvl="0" marL="0" rtl="0" algn="l">
              <a:spcBef>
                <a:spcPts val="0"/>
              </a:spcBef>
              <a:spcAft>
                <a:spcPts val="0"/>
              </a:spcAft>
              <a:buSzPts val="1200"/>
              <a:buNone/>
            </a:pPr>
            <a:r>
              <a:rPr lang="en-US" sz="1200"/>
              <a:t>[/Sources]</a:t>
            </a:r>
            <a:endParaRPr/>
          </a:p>
        </p:txBody>
      </p:sp>
      <p:sp>
        <p:nvSpPr>
          <p:cNvPr id="410" name="Google Shape;410;g3f83d05d65a_0_5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4" name="Google Shape;434;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Introduce this as a geometry-first modeling project: cable routing was used to create non-constant-curvature shapes, then modeled and validated on physical prototypes.</a:t>
            </a:r>
            <a:endParaRPr/>
          </a:p>
          <a:p>
            <a:pPr indent="0" lvl="0" marL="0" rtl="0" algn="l">
              <a:spcBef>
                <a:spcPts val="0"/>
              </a:spcBef>
              <a:spcAft>
                <a:spcPts val="0"/>
              </a:spcAft>
              <a:buSzPts val="1200"/>
              <a:buNone/>
            </a:pPr>
            <a:r>
              <a:t/>
            </a:r>
            <a:endParaRPr sz="1200"/>
          </a:p>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User-provided published paper: Bhalkikar, Lokesh, and Ashwin, Mechanism and Machine Theory 200 (2024), 105701</a:t>
            </a:r>
            <a:endParaRPr/>
          </a:p>
          <a:p>
            <a:pPr indent="0" lvl="0" marL="0" rtl="0" algn="l">
              <a:spcBef>
                <a:spcPts val="0"/>
              </a:spcBef>
              <a:spcAft>
                <a:spcPts val="0"/>
              </a:spcAft>
              <a:buSzPts val="1200"/>
              <a:buNone/>
            </a:pPr>
            <a:r>
              <a:rPr lang="en-US" sz="1200"/>
              <a:t>[/Sources]</a:t>
            </a:r>
            <a:endParaRPr/>
          </a:p>
        </p:txBody>
      </p:sp>
      <p:sp>
        <p:nvSpPr>
          <p:cNvPr id="435" name="Google Shape;435;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Explain why constant offset produces circular-arc bending and why varying offsets invalidate that simplification. The optimization retains geometric constraints while minimizing deformation variation across discretized elements.</a:t>
            </a:r>
            <a:endParaRPr/>
          </a:p>
          <a:p>
            <a:pPr indent="0" lvl="0" marL="0" rtl="0" algn="l">
              <a:spcBef>
                <a:spcPts val="0"/>
              </a:spcBef>
              <a:spcAft>
                <a:spcPts val="0"/>
              </a:spcAft>
              <a:buSzPts val="1200"/>
              <a:buNone/>
            </a:pPr>
            <a:r>
              <a:t/>
            </a:r>
            <a:endParaRPr sz="1200"/>
          </a:p>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User-provided published paper, especially Figures 2–3 and Sections 2–4</a:t>
            </a:r>
            <a:endParaRPr/>
          </a:p>
          <a:p>
            <a:pPr indent="0" lvl="0" marL="0" rtl="0" algn="l">
              <a:spcBef>
                <a:spcPts val="0"/>
              </a:spcBef>
              <a:spcAft>
                <a:spcPts val="0"/>
              </a:spcAft>
              <a:buSzPts val="1200"/>
              <a:buNone/>
            </a:pPr>
            <a:r>
              <a:rPr lang="en-US" sz="1200"/>
              <a:t>[/Sources]</a:t>
            </a:r>
            <a:endParaRPr/>
          </a:p>
        </p:txBody>
      </p:sp>
      <p:sp>
        <p:nvSpPr>
          <p:cNvPr id="446" name="Google Shape;446;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200"/>
              <a:buNone/>
            </a:pPr>
            <a:r>
              <a:rPr lang="en-US" sz="1200"/>
              <a:t>Lead with the quantitative result, then connect it to design: varying routing is not just a modeling complication; it is a mechanism for deliberately shaping curvature and grasping behavior.</a:t>
            </a:r>
            <a:endParaRPr/>
          </a:p>
          <a:p>
            <a:pPr indent="0" lvl="0" marL="0" rtl="0" algn="l">
              <a:spcBef>
                <a:spcPts val="0"/>
              </a:spcBef>
              <a:spcAft>
                <a:spcPts val="0"/>
              </a:spcAft>
              <a:buSzPts val="1200"/>
              <a:buNone/>
            </a:pPr>
            <a:r>
              <a:t/>
            </a:r>
            <a:endParaRPr sz="1200"/>
          </a:p>
          <a:p>
            <a:pPr indent="0" lvl="0" marL="0" rtl="0" algn="l">
              <a:spcBef>
                <a:spcPts val="0"/>
              </a:spcBef>
              <a:spcAft>
                <a:spcPts val="0"/>
              </a:spcAft>
              <a:buSzPts val="1200"/>
              <a:buNone/>
            </a:pPr>
            <a:r>
              <a:rPr lang="en-US" sz="1200"/>
              <a:t>[Sources]</a:t>
            </a:r>
            <a:endParaRPr/>
          </a:p>
          <a:p>
            <a:pPr indent="0" lvl="0" marL="0" rtl="0" algn="l">
              <a:spcBef>
                <a:spcPts val="0"/>
              </a:spcBef>
              <a:spcAft>
                <a:spcPts val="0"/>
              </a:spcAft>
              <a:buSzPts val="1200"/>
              <a:buNone/>
            </a:pPr>
            <a:r>
              <a:rPr lang="en-US" sz="1200"/>
              <a:t>- User-provided published paper, experimental validation and application sections</a:t>
            </a:r>
            <a:endParaRPr/>
          </a:p>
          <a:p>
            <a:pPr indent="0" lvl="0" marL="0" rtl="0" algn="l">
              <a:spcBef>
                <a:spcPts val="0"/>
              </a:spcBef>
              <a:spcAft>
                <a:spcPts val="0"/>
              </a:spcAft>
              <a:buSzPts val="1200"/>
              <a:buNone/>
            </a:pPr>
            <a:r>
              <a:rPr lang="en-US" sz="1200"/>
              <a:t>[/Sources]</a:t>
            </a:r>
            <a:endParaRPr/>
          </a:p>
        </p:txBody>
      </p:sp>
      <p:sp>
        <p:nvSpPr>
          <p:cNvPr id="471" name="Google Shape;471;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drive.google.com/file/d/16TuJzs64V1kRGWPDU8fX_Sf9z4x4FPZ_/view" TargetMode="External"/><Relationship Id="rId4" Type="http://schemas.openxmlformats.org/officeDocument/2006/relationships/image" Target="../media/image12.jpg"/><Relationship Id="rId5" Type="http://schemas.openxmlformats.org/officeDocument/2006/relationships/hyperlink" Target="http://drive.google.com/file/d/1eCFlfGandnEcGz3FqaIuVbP7TtK0ilwl/view" TargetMode="External"/><Relationship Id="rId6"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drive.google.com/file/d/1ig1RGCft5YMlxBV2bvDia8Pw6LeO8S8-/view" TargetMode="External"/><Relationship Id="rId4" Type="http://schemas.openxmlformats.org/officeDocument/2006/relationships/image" Target="../media/image20.jpg"/><Relationship Id="rId5" Type="http://schemas.openxmlformats.org/officeDocument/2006/relationships/hyperlink" Target="http://drive.google.com/file/d/1pvDbCvYoFJvZijdl1TDQKrJw6AEebBOB/view" TargetMode="External"/><Relationship Id="rId6"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3.png"/><Relationship Id="rId9"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14.png"/><Relationship Id="rId7" Type="http://schemas.openxmlformats.org/officeDocument/2006/relationships/image" Target="../media/image3.png"/><Relationship Id="rId8"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3.png"/><Relationship Id="rId9"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14.png"/><Relationship Id="rId7" Type="http://schemas.openxmlformats.org/officeDocument/2006/relationships/image" Target="../media/image3.png"/><Relationship Id="rId8"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9.png"/><Relationship Id="rId8"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3.png"/><Relationship Id="rId9" Type="http://schemas.openxmlformats.org/officeDocument/2006/relationships/image" Target="../media/image7.png"/><Relationship Id="rId5" Type="http://schemas.openxmlformats.org/officeDocument/2006/relationships/image" Target="../media/image14.pn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4.png"/><Relationship Id="rId4" Type="http://schemas.openxmlformats.org/officeDocument/2006/relationships/image" Target="../media/image13.png"/><Relationship Id="rId9" Type="http://schemas.openxmlformats.org/officeDocument/2006/relationships/image" Target="../media/image7.png"/><Relationship Id="rId5" Type="http://schemas.openxmlformats.org/officeDocument/2006/relationships/image" Target="../media/image14.pn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9.png"/><Relationship Id="rId8"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3.png"/><Relationship Id="rId5" Type="http://schemas.openxmlformats.org/officeDocument/2006/relationships/image" Target="../media/image33.png"/><Relationship Id="rId6" Type="http://schemas.openxmlformats.org/officeDocument/2006/relationships/image" Target="../media/image29.png"/><Relationship Id="rId7" Type="http://schemas.openxmlformats.org/officeDocument/2006/relationships/image" Target="../media/image28.png"/><Relationship Id="rId8"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13.png"/><Relationship Id="rId9" Type="http://schemas.openxmlformats.org/officeDocument/2006/relationships/image" Target="../media/image7.png"/><Relationship Id="rId5" Type="http://schemas.openxmlformats.org/officeDocument/2006/relationships/image" Target="../media/image14.pn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drive.google.com/file/d/1Oe3s1ZvG0MCQEnJqpQQI9wxtwriMuJx3/view" TargetMode="External"/><Relationship Id="rId4" Type="http://schemas.openxmlformats.org/officeDocument/2006/relationships/image" Target="../media/image31.jpg"/><Relationship Id="rId10" Type="http://schemas.openxmlformats.org/officeDocument/2006/relationships/image" Target="../media/image7.png"/><Relationship Id="rId9"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3.png"/><Relationship Id="rId8"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8.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6286500" y="0"/>
            <a:ext cx="457200" cy="6858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685800" y="1155025"/>
            <a:ext cx="5334000" cy="200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3700">
                <a:solidFill>
                  <a:srgbClr val="111318"/>
                </a:solidFill>
              </a:rPr>
              <a:t>Learning bimanual manipulation from demonstrations</a:t>
            </a:r>
            <a:endParaRPr sz="1200"/>
          </a:p>
        </p:txBody>
      </p:sp>
      <p:cxnSp>
        <p:nvCxnSpPr>
          <p:cNvPr id="18" name="Google Shape;18;p3"/>
          <p:cNvCxnSpPr/>
          <p:nvPr/>
        </p:nvCxnSpPr>
        <p:spPr>
          <a:xfrm>
            <a:off x="685800" y="4762500"/>
            <a:ext cx="4457700" cy="0"/>
          </a:xfrm>
          <a:prstGeom prst="straightConnector1">
            <a:avLst/>
          </a:prstGeom>
          <a:noFill/>
          <a:ln cap="flat" cmpd="sng" w="9525">
            <a:solidFill>
              <a:srgbClr val="B8BCC4"/>
            </a:solidFill>
            <a:prstDash val="solid"/>
            <a:round/>
            <a:headEnd len="sm" w="sm" type="none"/>
            <a:tailEnd len="sm" w="sm" type="none"/>
          </a:ln>
        </p:spPr>
      </p:cxnSp>
      <p:sp>
        <p:nvSpPr>
          <p:cNvPr id="19" name="Google Shape;19;p3"/>
          <p:cNvSpPr/>
          <p:nvPr/>
        </p:nvSpPr>
        <p:spPr>
          <a:xfrm>
            <a:off x="685800" y="5000625"/>
            <a:ext cx="49530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50">
                <a:solidFill>
                  <a:srgbClr val="111318"/>
                </a:solidFill>
              </a:rPr>
              <a:t>Smrithi Lokesh</a:t>
            </a:r>
            <a:endParaRPr/>
          </a:p>
          <a:p>
            <a:pPr indent="0" lvl="0" marL="0" marR="0" rtl="0" algn="l">
              <a:spcBef>
                <a:spcPts val="0"/>
              </a:spcBef>
              <a:spcAft>
                <a:spcPts val="0"/>
              </a:spcAft>
              <a:buNone/>
            </a:pPr>
            <a:r>
              <a:rPr b="0" i="0" lang="en-US" sz="1350">
                <a:solidFill>
                  <a:srgbClr val="111318"/>
                </a:solidFill>
              </a:rPr>
              <a:t>Janus Intelligent Robot Lab · University of Pennsylvania</a:t>
            </a:r>
            <a:endParaRPr/>
          </a:p>
        </p:txBody>
      </p:sp>
      <p:sp>
        <p:nvSpPr>
          <p:cNvPr id="20" name="Google Shape;20;p3"/>
          <p:cNvSpPr/>
          <p:nvPr/>
        </p:nvSpPr>
        <p:spPr>
          <a:xfrm>
            <a:off x="7010400" y="6267450"/>
            <a:ext cx="4476900" cy="2667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1050">
                <a:solidFill>
                  <a:srgbClr val="FFFFFF"/>
                </a:solidFill>
              </a:rPr>
              <a:t>Internal camera views · successful needle rollout</a:t>
            </a:r>
            <a:endParaRPr/>
          </a:p>
        </p:txBody>
      </p:sp>
      <p:pic>
        <p:nvPicPr>
          <p:cNvPr id="21" name="Google Shape;21;p3" title="IMG_6505.HEIC"/>
          <p:cNvPicPr preferRelativeResize="0"/>
          <p:nvPr/>
        </p:nvPicPr>
        <p:blipFill>
          <a:blip r:embed="rId3">
            <a:alphaModFix/>
          </a:blip>
          <a:stretch>
            <a:fillRect/>
          </a:stretch>
        </p:blipFill>
        <p:spPr>
          <a:xfrm>
            <a:off x="6019800" y="1155025"/>
            <a:ext cx="5748224" cy="43111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4"/>
          <p:cNvSpPr/>
          <p:nvPr/>
        </p:nvSpPr>
        <p:spPr>
          <a:xfrm>
            <a:off x="685800" y="38100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3D8DFF"/>
                </a:solidFill>
              </a:rPr>
              <a:t>PROBLEM FORMULATION</a:t>
            </a:r>
            <a:endParaRPr/>
          </a:p>
        </p:txBody>
      </p:sp>
      <p:sp>
        <p:nvSpPr>
          <p:cNvPr id="28" name="Google Shape;28;p4"/>
          <p:cNvSpPr/>
          <p:nvPr/>
        </p:nvSpPr>
        <p:spPr>
          <a:xfrm>
            <a:off x="685800" y="685800"/>
            <a:ext cx="108204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850">
                <a:solidFill>
                  <a:srgbClr val="111318"/>
                </a:solidFill>
              </a:rPr>
              <a:t>A robotically complete motion may still fail the experiment</a:t>
            </a:r>
            <a:endParaRPr/>
          </a:p>
        </p:txBody>
      </p:sp>
      <p:cxnSp>
        <p:nvCxnSpPr>
          <p:cNvPr id="29" name="Google Shape;29;p4"/>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sp>
        <p:nvSpPr>
          <p:cNvPr id="30" name="Google Shape;30;p4"/>
          <p:cNvSpPr/>
          <p:nvPr/>
        </p:nvSpPr>
        <p:spPr>
          <a:xfrm>
            <a:off x="685800" y="1666875"/>
            <a:ext cx="4762500" cy="362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725">
                <a:solidFill>
                  <a:srgbClr val="111318"/>
                </a:solidFill>
              </a:rPr>
              <a:t>Success had to be defined with a chemist</a:t>
            </a:r>
            <a:endParaRPr sz="1100"/>
          </a:p>
        </p:txBody>
      </p:sp>
      <p:sp>
        <p:nvSpPr>
          <p:cNvPr id="31" name="Google Shape;31;p4"/>
          <p:cNvSpPr/>
          <p:nvPr/>
        </p:nvSpPr>
        <p:spPr>
          <a:xfrm>
            <a:off x="742950" y="2266950"/>
            <a:ext cx="76200" cy="76200"/>
          </a:xfrm>
          <a:prstGeom prst="rect">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952500" y="2190750"/>
            <a:ext cx="47625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500">
                <a:solidFill>
                  <a:srgbClr val="111318"/>
                </a:solidFill>
              </a:rPr>
              <a:t>Worked with a chemistry PhD student to formulate experiments and identify action details that affected scientific validity.</a:t>
            </a:r>
            <a:endParaRPr/>
          </a:p>
        </p:txBody>
      </p:sp>
      <p:sp>
        <p:nvSpPr>
          <p:cNvPr id="33" name="Google Shape;33;p4"/>
          <p:cNvSpPr/>
          <p:nvPr/>
        </p:nvSpPr>
        <p:spPr>
          <a:xfrm>
            <a:off x="742950" y="3086100"/>
            <a:ext cx="76200" cy="76200"/>
          </a:xfrm>
          <a:prstGeom prst="rect">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952500" y="3009900"/>
            <a:ext cx="47625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500">
                <a:solidFill>
                  <a:srgbClr val="111318"/>
                </a:solidFill>
              </a:rPr>
              <a:t>Refined success criteria beyond reaching a pose: complete transfer, correct insertion, stable grasp, and contamination-aware handling.</a:t>
            </a:r>
            <a:endParaRPr/>
          </a:p>
        </p:txBody>
      </p:sp>
      <p:sp>
        <p:nvSpPr>
          <p:cNvPr id="35" name="Google Shape;35;p4"/>
          <p:cNvSpPr/>
          <p:nvPr/>
        </p:nvSpPr>
        <p:spPr>
          <a:xfrm>
            <a:off x="742950" y="3905250"/>
            <a:ext cx="76200" cy="76200"/>
          </a:xfrm>
          <a:prstGeom prst="rect">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952500" y="3829050"/>
            <a:ext cx="47625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500">
                <a:solidFill>
                  <a:srgbClr val="111318"/>
                </a:solidFill>
              </a:rPr>
              <a:t>Redesigned tools and containers when the original hardware created unnecessary manipulation difficulty.</a:t>
            </a:r>
            <a:endParaRPr/>
          </a:p>
        </p:txBody>
      </p:sp>
      <p:sp>
        <p:nvSpPr>
          <p:cNvPr id="37" name="Google Shape;37;p4"/>
          <p:cNvSpPr/>
          <p:nvPr/>
        </p:nvSpPr>
        <p:spPr>
          <a:xfrm>
            <a:off x="6191250" y="1714500"/>
            <a:ext cx="2381400" cy="20001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6400800" y="2428875"/>
            <a:ext cx="19623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500">
                <a:solidFill>
                  <a:srgbClr val="5E6470"/>
                </a:solidFill>
              </a:rPr>
              <a:t>(will be added)</a:t>
            </a:r>
            <a:endParaRPr/>
          </a:p>
        </p:txBody>
      </p:sp>
      <p:sp>
        <p:nvSpPr>
          <p:cNvPr id="39" name="Google Shape;39;p4"/>
          <p:cNvSpPr/>
          <p:nvPr/>
        </p:nvSpPr>
        <p:spPr>
          <a:xfrm>
            <a:off x="6400800" y="2752725"/>
            <a:ext cx="19623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125">
                <a:solidFill>
                  <a:srgbClr val="858B95"/>
                </a:solidFill>
              </a:rPr>
              <a:t>CAD photos of redesigned</a:t>
            </a:r>
            <a:r>
              <a:rPr b="0" i="0" lang="en-US" sz="1125">
                <a:solidFill>
                  <a:srgbClr val="858B95"/>
                </a:solidFill>
              </a:rPr>
              <a:t> spatula / clamp</a:t>
            </a:r>
            <a:endParaRPr/>
          </a:p>
        </p:txBody>
      </p:sp>
      <p:sp>
        <p:nvSpPr>
          <p:cNvPr id="40" name="Google Shape;40;p4"/>
          <p:cNvSpPr/>
          <p:nvPr/>
        </p:nvSpPr>
        <p:spPr>
          <a:xfrm>
            <a:off x="8858250" y="1714500"/>
            <a:ext cx="2648100" cy="20001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9067800" y="2428875"/>
            <a:ext cx="22290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500">
                <a:solidFill>
                  <a:srgbClr val="5E6470"/>
                </a:solidFill>
              </a:rPr>
              <a:t>ADD PHOTO</a:t>
            </a:r>
            <a:endParaRPr/>
          </a:p>
        </p:txBody>
      </p:sp>
      <p:sp>
        <p:nvSpPr>
          <p:cNvPr id="42" name="Google Shape;42;p4"/>
          <p:cNvSpPr/>
          <p:nvPr/>
        </p:nvSpPr>
        <p:spPr>
          <a:xfrm>
            <a:off x="9067800" y="2752725"/>
            <a:ext cx="22290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125">
                <a:solidFill>
                  <a:srgbClr val="858B95"/>
                </a:solidFill>
              </a:rPr>
              <a:t>External view of successful experiment</a:t>
            </a:r>
            <a:endParaRPr/>
          </a:p>
        </p:txBody>
      </p:sp>
      <p:sp>
        <p:nvSpPr>
          <p:cNvPr id="43" name="Google Shape;43;p4"/>
          <p:cNvSpPr/>
          <p:nvPr/>
        </p:nvSpPr>
        <p:spPr>
          <a:xfrm>
            <a:off x="6191250" y="4095750"/>
            <a:ext cx="5315100" cy="1428900"/>
          </a:xfrm>
          <a:prstGeom prst="rect">
            <a:avLst/>
          </a:prstGeom>
          <a:solidFill>
            <a:srgbClr val="DDF3FC"/>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6448000" y="4191000"/>
            <a:ext cx="2476500" cy="247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425">
                <a:solidFill>
                  <a:srgbClr val="3D8DFF"/>
                </a:solidFill>
              </a:rPr>
              <a:t>Design implication</a:t>
            </a:r>
            <a:endParaRPr/>
          </a:p>
        </p:txBody>
      </p:sp>
      <p:sp>
        <p:nvSpPr>
          <p:cNvPr id="45" name="Google Shape;45;p4"/>
          <p:cNvSpPr/>
          <p:nvPr/>
        </p:nvSpPr>
        <p:spPr>
          <a:xfrm>
            <a:off x="6448000" y="4591050"/>
            <a:ext cx="46674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a:solidFill>
                  <a:srgbClr val="111318"/>
                </a:solidFill>
              </a:rPr>
              <a:t>Reliable automation required joint design of the policy, demonstrations, tools, environment, and task-level success criteria.</a:t>
            </a:r>
            <a:endParaRPr/>
          </a:p>
        </p:txBody>
      </p:sp>
      <p:pic>
        <p:nvPicPr>
          <p:cNvPr id="46" name="Google Shape;46;p4" title="IMG_6389.HEIC"/>
          <p:cNvPicPr preferRelativeResize="0"/>
          <p:nvPr/>
        </p:nvPicPr>
        <p:blipFill rotWithShape="1">
          <a:blip r:embed="rId3">
            <a:alphaModFix/>
          </a:blip>
          <a:srcRect b="21120" l="8224" r="6554" t="31947"/>
          <a:stretch/>
        </p:blipFill>
        <p:spPr>
          <a:xfrm>
            <a:off x="8782050" y="1709738"/>
            <a:ext cx="2724150" cy="20002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 name="Shape 51"/>
        <p:cNvGrpSpPr/>
        <p:nvPr/>
      </p:nvGrpSpPr>
      <p:grpSpPr>
        <a:xfrm>
          <a:off x="0" y="0"/>
          <a:ext cx="0" cy="0"/>
          <a:chOff x="0" y="0"/>
          <a:chExt cx="0" cy="0"/>
        </a:xfrm>
      </p:grpSpPr>
      <p:sp>
        <p:nvSpPr>
          <p:cNvPr id="52" name="Google Shape;52;p5"/>
          <p:cNvSpPr/>
          <p:nvPr/>
        </p:nvSpPr>
        <p:spPr>
          <a:xfrm>
            <a:off x="685800" y="38100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3D8DFF"/>
                </a:solidFill>
              </a:rPr>
              <a:t>SYSTEM AND DATA</a:t>
            </a:r>
            <a:endParaRPr/>
          </a:p>
        </p:txBody>
      </p:sp>
      <p:sp>
        <p:nvSpPr>
          <p:cNvPr id="53" name="Google Shape;53;p5"/>
          <p:cNvSpPr/>
          <p:nvPr/>
        </p:nvSpPr>
        <p:spPr>
          <a:xfrm>
            <a:off x="685800" y="685800"/>
            <a:ext cx="108204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50">
                <a:solidFill>
                  <a:srgbClr val="111318"/>
                </a:solidFill>
              </a:rPr>
              <a:t>A synchronized multimodal record links what the robot sees, senses, and executes</a:t>
            </a:r>
            <a:endParaRPr sz="600"/>
          </a:p>
        </p:txBody>
      </p:sp>
      <p:cxnSp>
        <p:nvCxnSpPr>
          <p:cNvPr id="54" name="Google Shape;54;p5"/>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sp>
        <p:nvSpPr>
          <p:cNvPr id="55" name="Google Shape;55;p5"/>
          <p:cNvSpPr/>
          <p:nvPr/>
        </p:nvSpPr>
        <p:spPr>
          <a:xfrm>
            <a:off x="685800" y="1666875"/>
            <a:ext cx="3429000" cy="23814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963050" y="4048050"/>
            <a:ext cx="30099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125">
                <a:solidFill>
                  <a:srgbClr val="858B95"/>
                </a:solidFill>
              </a:rPr>
              <a:t>GELLO + dual UR3e setup</a:t>
            </a:r>
            <a:endParaRPr/>
          </a:p>
        </p:txBody>
      </p:sp>
      <p:sp>
        <p:nvSpPr>
          <p:cNvPr id="57" name="Google Shape;57;p5"/>
          <p:cNvSpPr/>
          <p:nvPr/>
        </p:nvSpPr>
        <p:spPr>
          <a:xfrm>
            <a:off x="685800" y="4448305"/>
            <a:ext cx="34290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025">
                <a:solidFill>
                  <a:srgbClr val="111318"/>
                </a:solidFill>
              </a:rPr>
              <a:t>10 Hz recording loop</a:t>
            </a:r>
            <a:endParaRPr/>
          </a:p>
        </p:txBody>
      </p:sp>
      <p:sp>
        <p:nvSpPr>
          <p:cNvPr id="58" name="Google Shape;58;p5"/>
          <p:cNvSpPr/>
          <p:nvPr/>
        </p:nvSpPr>
        <p:spPr>
          <a:xfrm>
            <a:off x="685800" y="4870425"/>
            <a:ext cx="3429000" cy="9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425">
                <a:solidFill>
                  <a:srgbClr val="5E6470"/>
                </a:solidFill>
              </a:rPr>
              <a:t>Latest ROS joint states and GELLO commands were sampled with one frame per camera into a common LeRobot episode.</a:t>
            </a:r>
            <a:endParaRPr/>
          </a:p>
        </p:txBody>
      </p:sp>
      <p:sp>
        <p:nvSpPr>
          <p:cNvPr id="59" name="Google Shape;59;p5"/>
          <p:cNvSpPr/>
          <p:nvPr/>
        </p:nvSpPr>
        <p:spPr>
          <a:xfrm>
            <a:off x="4667250" y="1809750"/>
            <a:ext cx="1381200" cy="10479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4781550" y="2038350"/>
            <a:ext cx="1152600" cy="238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100">
                <a:solidFill>
                  <a:srgbClr val="111318"/>
                </a:solidFill>
              </a:rPr>
              <a:t>(a) Front view</a:t>
            </a:r>
            <a:endParaRPr sz="1300"/>
          </a:p>
        </p:txBody>
      </p:sp>
      <p:sp>
        <p:nvSpPr>
          <p:cNvPr id="61" name="Google Shape;61;p5"/>
          <p:cNvSpPr/>
          <p:nvPr/>
        </p:nvSpPr>
        <p:spPr>
          <a:xfrm>
            <a:off x="4781550" y="2428875"/>
            <a:ext cx="11526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500">
                <a:solidFill>
                  <a:srgbClr val="3D8DFF"/>
                </a:solidFill>
              </a:rPr>
              <a:t>Iᶠₜ</a:t>
            </a:r>
            <a:endParaRPr/>
          </a:p>
        </p:txBody>
      </p:sp>
      <p:sp>
        <p:nvSpPr>
          <p:cNvPr id="62" name="Google Shape;62;p5"/>
          <p:cNvSpPr/>
          <p:nvPr/>
        </p:nvSpPr>
        <p:spPr>
          <a:xfrm>
            <a:off x="6429375" y="1809750"/>
            <a:ext cx="1381200" cy="10479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5"/>
          <p:cNvSpPr/>
          <p:nvPr/>
        </p:nvSpPr>
        <p:spPr>
          <a:xfrm>
            <a:off x="6543675" y="2038350"/>
            <a:ext cx="1152600" cy="238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rgbClr val="111318"/>
                </a:solidFill>
              </a:rPr>
              <a:t>(b) Left wrist</a:t>
            </a:r>
            <a:endParaRPr/>
          </a:p>
        </p:txBody>
      </p:sp>
      <p:sp>
        <p:nvSpPr>
          <p:cNvPr id="64" name="Google Shape;64;p5"/>
          <p:cNvSpPr/>
          <p:nvPr/>
        </p:nvSpPr>
        <p:spPr>
          <a:xfrm>
            <a:off x="6543675" y="2428875"/>
            <a:ext cx="11526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500">
                <a:solidFill>
                  <a:srgbClr val="3D8DFF"/>
                </a:solidFill>
              </a:rPr>
              <a:t>Iˡₜ</a:t>
            </a:r>
            <a:endParaRPr/>
          </a:p>
        </p:txBody>
      </p:sp>
      <p:sp>
        <p:nvSpPr>
          <p:cNvPr id="65" name="Google Shape;65;p5"/>
          <p:cNvSpPr/>
          <p:nvPr/>
        </p:nvSpPr>
        <p:spPr>
          <a:xfrm>
            <a:off x="8191500" y="1809750"/>
            <a:ext cx="1381200" cy="10479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8305800" y="2038350"/>
            <a:ext cx="1152600" cy="238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100">
                <a:solidFill>
                  <a:srgbClr val="111318"/>
                </a:solidFill>
              </a:rPr>
              <a:t>(c) Right wrist</a:t>
            </a:r>
            <a:endParaRPr sz="1000"/>
          </a:p>
        </p:txBody>
      </p:sp>
      <p:sp>
        <p:nvSpPr>
          <p:cNvPr id="67" name="Google Shape;67;p5"/>
          <p:cNvSpPr/>
          <p:nvPr/>
        </p:nvSpPr>
        <p:spPr>
          <a:xfrm>
            <a:off x="8305800" y="2428875"/>
            <a:ext cx="11526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500">
                <a:solidFill>
                  <a:srgbClr val="3D8DFF"/>
                </a:solidFill>
              </a:rPr>
              <a:t>Iʳₜ</a:t>
            </a:r>
            <a:endParaRPr/>
          </a:p>
        </p:txBody>
      </p:sp>
      <p:sp>
        <p:nvSpPr>
          <p:cNvPr id="68" name="Google Shape;68;p5"/>
          <p:cNvSpPr/>
          <p:nvPr/>
        </p:nvSpPr>
        <p:spPr>
          <a:xfrm>
            <a:off x="9953625" y="1809750"/>
            <a:ext cx="1381200" cy="1047900"/>
          </a:xfrm>
          <a:prstGeom prst="rect">
            <a:avLst/>
          </a:prstGeom>
          <a:solidFill>
            <a:srgbClr val="DDF3FC"/>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9953625" y="2038350"/>
            <a:ext cx="1381200" cy="238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1200">
                <a:solidFill>
                  <a:srgbClr val="111318"/>
                </a:solidFill>
              </a:rPr>
              <a:t>(d)</a:t>
            </a:r>
            <a:r>
              <a:rPr b="1" lang="en-US" sz="1100">
                <a:solidFill>
                  <a:srgbClr val="111318"/>
                </a:solidFill>
              </a:rPr>
              <a:t>Proprioception</a:t>
            </a:r>
            <a:endParaRPr sz="1300"/>
          </a:p>
        </p:txBody>
      </p:sp>
      <p:sp>
        <p:nvSpPr>
          <p:cNvPr id="70" name="Google Shape;70;p5"/>
          <p:cNvSpPr/>
          <p:nvPr/>
        </p:nvSpPr>
        <p:spPr>
          <a:xfrm>
            <a:off x="10067925" y="2428875"/>
            <a:ext cx="11526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500">
                <a:solidFill>
                  <a:srgbClr val="3D8DFF"/>
                </a:solidFill>
              </a:rPr>
              <a:t>qₜ ∈ ℝ¹⁴</a:t>
            </a:r>
            <a:endParaRPr/>
          </a:p>
        </p:txBody>
      </p:sp>
      <p:cxnSp>
        <p:nvCxnSpPr>
          <p:cNvPr id="71" name="Google Shape;71;p5"/>
          <p:cNvCxnSpPr/>
          <p:nvPr/>
        </p:nvCxnSpPr>
        <p:spPr>
          <a:xfrm>
            <a:off x="5334000" y="3143250"/>
            <a:ext cx="5315100" cy="0"/>
          </a:xfrm>
          <a:prstGeom prst="straightConnector1">
            <a:avLst/>
          </a:prstGeom>
          <a:noFill/>
          <a:ln cap="flat" cmpd="sng" w="19050">
            <a:solidFill>
              <a:srgbClr val="3D8DFF"/>
            </a:solidFill>
            <a:prstDash val="solid"/>
            <a:round/>
            <a:headEnd len="sm" w="sm" type="none"/>
            <a:tailEnd len="sm" w="sm" type="none"/>
          </a:ln>
        </p:spPr>
      </p:cxnSp>
      <p:sp>
        <p:nvSpPr>
          <p:cNvPr id="72" name="Google Shape;72;p5"/>
          <p:cNvSpPr/>
          <p:nvPr/>
        </p:nvSpPr>
        <p:spPr>
          <a:xfrm>
            <a:off x="6191250" y="3381375"/>
            <a:ext cx="4000500" cy="5238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400">
                <a:solidFill>
                  <a:srgbClr val="111318"/>
                </a:solidFill>
              </a:rPr>
              <a:t>oₜ = [ Iᶠₜ, Iˡₜ, Iʳₜ, qₜ ]</a:t>
            </a:r>
            <a:endParaRPr/>
          </a:p>
        </p:txBody>
      </p:sp>
      <p:sp>
        <p:nvSpPr>
          <p:cNvPr id="73" name="Google Shape;73;p5"/>
          <p:cNvSpPr/>
          <p:nvPr/>
        </p:nvSpPr>
        <p:spPr>
          <a:xfrm>
            <a:off x="5095875" y="4048125"/>
            <a:ext cx="59055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500">
                <a:solidFill>
                  <a:srgbClr val="5E6470"/>
                </a:solidFill>
              </a:rPr>
              <a:t>aₜ ∈ ℝ¹⁴  ·  left joints + gripper, then right joints + gripper</a:t>
            </a:r>
            <a:endParaRPr/>
          </a:p>
        </p:txBody>
      </p:sp>
      <p:sp>
        <p:nvSpPr>
          <p:cNvPr id="74" name="Google Shape;74;p5"/>
          <p:cNvSpPr/>
          <p:nvPr/>
        </p:nvSpPr>
        <p:spPr>
          <a:xfrm>
            <a:off x="4810125" y="4762500"/>
            <a:ext cx="6191400" cy="904800"/>
          </a:xfrm>
          <a:prstGeom prst="rect">
            <a:avLst/>
          </a:prstGeom>
          <a:solidFill>
            <a:srgbClr val="EDEDED"/>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5048250" y="4972050"/>
            <a:ext cx="1524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250">
                <a:solidFill>
                  <a:srgbClr val="111318"/>
                </a:solidFill>
              </a:rPr>
              <a:t>Critical invariant</a:t>
            </a:r>
            <a:endParaRPr sz="1300"/>
          </a:p>
        </p:txBody>
      </p:sp>
      <p:sp>
        <p:nvSpPr>
          <p:cNvPr id="76" name="Google Shape;76;p5"/>
          <p:cNvSpPr/>
          <p:nvPr/>
        </p:nvSpPr>
        <p:spPr>
          <a:xfrm>
            <a:off x="6715125" y="4972050"/>
            <a:ext cx="3905400" cy="285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50">
                <a:solidFill>
                  <a:srgbClr val="3D8DFF"/>
                </a:solidFill>
              </a:rPr>
              <a:t>train / deploy schemas match</a:t>
            </a:r>
            <a:endParaRPr/>
          </a:p>
        </p:txBody>
      </p:sp>
      <p:sp>
        <p:nvSpPr>
          <p:cNvPr id="77" name="Google Shape;77;p5"/>
          <p:cNvSpPr/>
          <p:nvPr/>
        </p:nvSpPr>
        <p:spPr>
          <a:xfrm>
            <a:off x="5524500" y="5353050"/>
            <a:ext cx="5476800" cy="209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200">
                <a:solidFill>
                  <a:srgbClr val="5E6470"/>
                </a:solidFill>
              </a:rPr>
              <a:t>joint order · camera identity · crop/resize · normalization · frequency</a:t>
            </a:r>
            <a:endParaRPr/>
          </a:p>
        </p:txBody>
      </p:sp>
      <p:pic>
        <p:nvPicPr>
          <p:cNvPr id="78" name="Google Shape;78;p5" title="IMG_6357.HEIC"/>
          <p:cNvPicPr preferRelativeResize="0"/>
          <p:nvPr/>
        </p:nvPicPr>
        <p:blipFill>
          <a:blip r:embed="rId3">
            <a:alphaModFix/>
          </a:blip>
          <a:stretch>
            <a:fillRect/>
          </a:stretch>
        </p:blipFill>
        <p:spPr>
          <a:xfrm>
            <a:off x="685800" y="1657350"/>
            <a:ext cx="3600451" cy="270033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6"/>
          <p:cNvSpPr/>
          <p:nvPr/>
        </p:nvSpPr>
        <p:spPr>
          <a:xfrm>
            <a:off x="685800" y="38100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3D8DFF"/>
                </a:solidFill>
              </a:rPr>
              <a:t>POLICY DEVELOPMENT</a:t>
            </a:r>
            <a:endParaRPr/>
          </a:p>
        </p:txBody>
      </p:sp>
      <p:sp>
        <p:nvSpPr>
          <p:cNvPr id="85" name="Google Shape;85;p6"/>
          <p:cNvSpPr/>
          <p:nvPr/>
        </p:nvSpPr>
        <p:spPr>
          <a:xfrm>
            <a:off x="685800" y="685800"/>
            <a:ext cx="108204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950">
                <a:solidFill>
                  <a:srgbClr val="111318"/>
                </a:solidFill>
              </a:rPr>
              <a:t>Four targeted interventions improved supervision, observability, recovery, and transfer</a:t>
            </a:r>
            <a:endParaRPr sz="500"/>
          </a:p>
        </p:txBody>
      </p:sp>
      <p:cxnSp>
        <p:nvCxnSpPr>
          <p:cNvPr id="86" name="Google Shape;86;p6"/>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sp>
        <p:nvSpPr>
          <p:cNvPr id="87" name="Google Shape;87;p6"/>
          <p:cNvSpPr/>
          <p:nvPr/>
        </p:nvSpPr>
        <p:spPr>
          <a:xfrm>
            <a:off x="685800" y="1714500"/>
            <a:ext cx="2286000" cy="29529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876300" y="1952625"/>
            <a:ext cx="19050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75">
                <a:solidFill>
                  <a:srgbClr val="5E6470"/>
                </a:solidFill>
              </a:rPr>
              <a:t>(a) SUPERVISION</a:t>
            </a:r>
            <a:endParaRPr/>
          </a:p>
        </p:txBody>
      </p:sp>
      <p:sp>
        <p:nvSpPr>
          <p:cNvPr id="89" name="Google Shape;89;p6"/>
          <p:cNvSpPr/>
          <p:nvPr/>
        </p:nvSpPr>
        <p:spPr>
          <a:xfrm>
            <a:off x="876300" y="2352675"/>
            <a:ext cx="1905000" cy="590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75">
                <a:solidFill>
                  <a:srgbClr val="111318"/>
                </a:solidFill>
              </a:rPr>
              <a:t>Plateau removal</a:t>
            </a:r>
            <a:endParaRPr/>
          </a:p>
        </p:txBody>
      </p:sp>
      <p:sp>
        <p:nvSpPr>
          <p:cNvPr id="90" name="Google Shape;90;p6"/>
          <p:cNvSpPr/>
          <p:nvPr/>
        </p:nvSpPr>
        <p:spPr>
          <a:xfrm>
            <a:off x="876300" y="3143250"/>
            <a:ext cx="190500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50">
                <a:solidFill>
                  <a:srgbClr val="5E6470"/>
                </a:solidFill>
              </a:rPr>
              <a:t>Removed low-motion hesitation frames as loss anchors to reduce freezing and slow execution.</a:t>
            </a:r>
            <a:endParaRPr/>
          </a:p>
        </p:txBody>
      </p:sp>
      <p:sp>
        <p:nvSpPr>
          <p:cNvPr id="91" name="Google Shape;91;p6"/>
          <p:cNvSpPr/>
          <p:nvPr/>
        </p:nvSpPr>
        <p:spPr>
          <a:xfrm>
            <a:off x="3352800" y="1714500"/>
            <a:ext cx="2286000" cy="29529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6"/>
          <p:cNvSpPr/>
          <p:nvPr/>
        </p:nvSpPr>
        <p:spPr>
          <a:xfrm>
            <a:off x="3543300" y="1952625"/>
            <a:ext cx="19050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75">
                <a:solidFill>
                  <a:srgbClr val="5E6470"/>
                </a:solidFill>
              </a:rPr>
              <a:t>(b) OBSERVABILITY</a:t>
            </a:r>
            <a:endParaRPr/>
          </a:p>
        </p:txBody>
      </p:sp>
      <p:sp>
        <p:nvSpPr>
          <p:cNvPr id="93" name="Google Shape;93;p6"/>
          <p:cNvSpPr/>
          <p:nvPr/>
        </p:nvSpPr>
        <p:spPr>
          <a:xfrm>
            <a:off x="3543300" y="2352675"/>
            <a:ext cx="1905000" cy="590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75">
                <a:solidFill>
                  <a:srgbClr val="111318"/>
                </a:solidFill>
              </a:rPr>
              <a:t>Temporal context</a:t>
            </a:r>
            <a:endParaRPr/>
          </a:p>
        </p:txBody>
      </p:sp>
      <p:sp>
        <p:nvSpPr>
          <p:cNvPr id="94" name="Google Shape;94;p6"/>
          <p:cNvSpPr/>
          <p:nvPr/>
        </p:nvSpPr>
        <p:spPr>
          <a:xfrm>
            <a:off x="3543300" y="3143250"/>
            <a:ext cx="190500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50">
                <a:solidFill>
                  <a:srgbClr val="5E6470"/>
                </a:solidFill>
              </a:rPr>
              <a:t>Added previous images</a:t>
            </a:r>
            <a:r>
              <a:rPr lang="en-US" sz="1350">
                <a:solidFill>
                  <a:srgbClr val="5E6470"/>
                </a:solidFill>
              </a:rPr>
              <a:t> </a:t>
            </a:r>
            <a:r>
              <a:rPr b="0" i="0" lang="en-US" sz="1350">
                <a:solidFill>
                  <a:srgbClr val="5E6470"/>
                </a:solidFill>
              </a:rPr>
              <a:t>and in some variants previous commanded actions</a:t>
            </a:r>
            <a:r>
              <a:rPr lang="en-US" sz="1350">
                <a:solidFill>
                  <a:srgbClr val="5E6470"/>
                </a:solidFill>
              </a:rPr>
              <a:t> </a:t>
            </a:r>
            <a:r>
              <a:rPr b="0" i="0" lang="en-US" sz="1350">
                <a:solidFill>
                  <a:srgbClr val="5E6470"/>
                </a:solidFill>
              </a:rPr>
              <a:t>to disambiguate task phase.</a:t>
            </a:r>
            <a:endParaRPr/>
          </a:p>
        </p:txBody>
      </p:sp>
      <p:sp>
        <p:nvSpPr>
          <p:cNvPr id="95" name="Google Shape;95;p6"/>
          <p:cNvSpPr/>
          <p:nvPr/>
        </p:nvSpPr>
        <p:spPr>
          <a:xfrm>
            <a:off x="6019800" y="1714500"/>
            <a:ext cx="2286000" cy="29529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6210300" y="1952625"/>
            <a:ext cx="19050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75">
                <a:solidFill>
                  <a:srgbClr val="5E6470"/>
                </a:solidFill>
              </a:rPr>
              <a:t>(c) COVARIATE SHIFT</a:t>
            </a:r>
            <a:endParaRPr/>
          </a:p>
        </p:txBody>
      </p:sp>
      <p:sp>
        <p:nvSpPr>
          <p:cNvPr id="97" name="Google Shape;97;p6"/>
          <p:cNvSpPr/>
          <p:nvPr/>
        </p:nvSpPr>
        <p:spPr>
          <a:xfrm>
            <a:off x="6210300" y="2352675"/>
            <a:ext cx="1905000" cy="590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75">
                <a:solidFill>
                  <a:srgbClr val="111318"/>
                </a:solidFill>
              </a:rPr>
              <a:t>DAgger</a:t>
            </a:r>
            <a:endParaRPr/>
          </a:p>
        </p:txBody>
      </p:sp>
      <p:sp>
        <p:nvSpPr>
          <p:cNvPr id="98" name="Google Shape;98;p6"/>
          <p:cNvSpPr/>
          <p:nvPr/>
        </p:nvSpPr>
        <p:spPr>
          <a:xfrm>
            <a:off x="6210300" y="3143250"/>
            <a:ext cx="190500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50">
                <a:solidFill>
                  <a:srgbClr val="5E6470"/>
                </a:solidFill>
              </a:rPr>
              <a:t>Collected human corrections from policy-induced states to add recovery behavior.</a:t>
            </a:r>
            <a:endParaRPr/>
          </a:p>
        </p:txBody>
      </p:sp>
      <p:sp>
        <p:nvSpPr>
          <p:cNvPr id="99" name="Google Shape;99;p6"/>
          <p:cNvSpPr/>
          <p:nvPr/>
        </p:nvSpPr>
        <p:spPr>
          <a:xfrm>
            <a:off x="8686800" y="1714500"/>
            <a:ext cx="2286000" cy="2952900"/>
          </a:xfrm>
          <a:prstGeom prst="rect">
            <a:avLst/>
          </a:prstGeom>
          <a:solidFill>
            <a:srgbClr val="DDF3FC"/>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8877300" y="1952625"/>
            <a:ext cx="190500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975">
                <a:solidFill>
                  <a:srgbClr val="3D8DFF"/>
                </a:solidFill>
              </a:rPr>
              <a:t>(d) TRANSFER</a:t>
            </a:r>
            <a:endParaRPr/>
          </a:p>
        </p:txBody>
      </p:sp>
      <p:sp>
        <p:nvSpPr>
          <p:cNvPr id="101" name="Google Shape;101;p6"/>
          <p:cNvSpPr/>
          <p:nvPr/>
        </p:nvSpPr>
        <p:spPr>
          <a:xfrm>
            <a:off x="8877300" y="2352675"/>
            <a:ext cx="1905000" cy="590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75">
                <a:solidFill>
                  <a:srgbClr val="111318"/>
                </a:solidFill>
              </a:rPr>
              <a:t>LBM fine-tuning</a:t>
            </a:r>
            <a:endParaRPr/>
          </a:p>
        </p:txBody>
      </p:sp>
      <p:sp>
        <p:nvSpPr>
          <p:cNvPr id="102" name="Google Shape;102;p6"/>
          <p:cNvSpPr/>
          <p:nvPr/>
        </p:nvSpPr>
        <p:spPr>
          <a:xfrm>
            <a:off x="8877300" y="3143250"/>
            <a:ext cx="1905000" cy="1143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50">
                <a:solidFill>
                  <a:srgbClr val="5E6470"/>
                </a:solidFill>
              </a:rPr>
              <a:t>Canonicalized short-horizon datasets, pretrained across tasks, then adapted to a target experiment.</a:t>
            </a:r>
            <a:endParaRPr/>
          </a:p>
        </p:txBody>
      </p:sp>
      <p:sp>
        <p:nvSpPr>
          <p:cNvPr id="103" name="Google Shape;103;p6"/>
          <p:cNvSpPr/>
          <p:nvPr/>
        </p:nvSpPr>
        <p:spPr>
          <a:xfrm>
            <a:off x="1476375" y="5191125"/>
            <a:ext cx="1143000" cy="285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50">
                <a:solidFill>
                  <a:srgbClr val="111318"/>
                </a:solidFill>
              </a:rPr>
              <a:t>Scratch</a:t>
            </a:r>
            <a:endParaRPr/>
          </a:p>
        </p:txBody>
      </p:sp>
      <p:sp>
        <p:nvSpPr>
          <p:cNvPr id="104" name="Google Shape;104;p6"/>
          <p:cNvSpPr/>
          <p:nvPr/>
        </p:nvSpPr>
        <p:spPr>
          <a:xfrm>
            <a:off x="1143000" y="5514975"/>
            <a:ext cx="1809600" cy="228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200">
                <a:solidFill>
                  <a:srgbClr val="5E6470"/>
                </a:solidFill>
              </a:rPr>
              <a:t>random initialization</a:t>
            </a:r>
            <a:endParaRPr/>
          </a:p>
        </p:txBody>
      </p:sp>
      <p:sp>
        <p:nvSpPr>
          <p:cNvPr id="105" name="Google Shape;105;p6"/>
          <p:cNvSpPr/>
          <p:nvPr/>
        </p:nvSpPr>
        <p:spPr>
          <a:xfrm>
            <a:off x="3333750" y="5276850"/>
            <a:ext cx="571500" cy="238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1425">
                <a:solidFill>
                  <a:srgbClr val="5E6470"/>
                </a:solidFill>
              </a:rPr>
              <a:t>vs.</a:t>
            </a:r>
            <a:endParaRPr/>
          </a:p>
        </p:txBody>
      </p:sp>
      <p:sp>
        <p:nvSpPr>
          <p:cNvPr id="106" name="Google Shape;106;p6"/>
          <p:cNvSpPr/>
          <p:nvPr/>
        </p:nvSpPr>
        <p:spPr>
          <a:xfrm>
            <a:off x="4286250" y="5191125"/>
            <a:ext cx="2000100" cy="2859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1650">
                <a:solidFill>
                  <a:srgbClr val="3D8DFF"/>
                </a:solidFill>
              </a:rPr>
              <a:t>Fine-tuned LBM</a:t>
            </a:r>
            <a:endParaRPr/>
          </a:p>
        </p:txBody>
      </p:sp>
      <p:sp>
        <p:nvSpPr>
          <p:cNvPr id="107" name="Google Shape;107;p6"/>
          <p:cNvSpPr/>
          <p:nvPr/>
        </p:nvSpPr>
        <p:spPr>
          <a:xfrm>
            <a:off x="3714750" y="5514975"/>
            <a:ext cx="31434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rgbClr val="5E6470"/>
                </a:solidFill>
              </a:rPr>
              <a:t>multitask data → canonical schema → pretraining → target-task adaptation</a:t>
            </a:r>
            <a:endParaRPr/>
          </a:p>
        </p:txBody>
      </p:sp>
      <p:sp>
        <p:nvSpPr>
          <p:cNvPr id="108" name="Google Shape;108;p6"/>
          <p:cNvSpPr/>
          <p:nvPr/>
        </p:nvSpPr>
        <p:spPr>
          <a:xfrm>
            <a:off x="7858125" y="5238750"/>
            <a:ext cx="2952900" cy="428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US" sz="2325">
                <a:solidFill>
                  <a:srgbClr val="111318"/>
                </a:solidFill>
              </a:rPr>
              <a:t>πθ(a | o, h)</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7"/>
          <p:cNvSpPr/>
          <p:nvPr/>
        </p:nvSpPr>
        <p:spPr>
          <a:xfrm>
            <a:off x="685800" y="38100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3D8DFF"/>
                </a:solidFill>
              </a:rPr>
              <a:t>DEPLOYMENT</a:t>
            </a:r>
            <a:endParaRPr/>
          </a:p>
        </p:txBody>
      </p:sp>
      <p:sp>
        <p:nvSpPr>
          <p:cNvPr id="115" name="Google Shape;115;p7"/>
          <p:cNvSpPr/>
          <p:nvPr/>
        </p:nvSpPr>
        <p:spPr>
          <a:xfrm>
            <a:off x="685800" y="685800"/>
            <a:ext cx="108204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50">
                <a:solidFill>
                  <a:srgbClr val="111318"/>
                </a:solidFill>
              </a:rPr>
              <a:t>Closed-loop deployment couples action generation, execution, and replanning</a:t>
            </a:r>
            <a:endParaRPr sz="700"/>
          </a:p>
        </p:txBody>
      </p:sp>
      <p:cxnSp>
        <p:nvCxnSpPr>
          <p:cNvPr id="116" name="Google Shape;116;p7"/>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sp>
        <p:nvSpPr>
          <p:cNvPr id="117" name="Google Shape;117;p7"/>
          <p:cNvSpPr/>
          <p:nvPr/>
        </p:nvSpPr>
        <p:spPr>
          <a:xfrm>
            <a:off x="685800" y="1666875"/>
            <a:ext cx="40005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00">
                <a:solidFill>
                  <a:srgbClr val="111318"/>
                </a:solidFill>
              </a:rPr>
              <a:t>(a) Diffusion-policy deployment</a:t>
            </a:r>
            <a:endParaRPr/>
          </a:p>
        </p:txBody>
      </p:sp>
      <p:sp>
        <p:nvSpPr>
          <p:cNvPr id="118" name="Google Shape;118;p7"/>
          <p:cNvSpPr/>
          <p:nvPr/>
        </p:nvSpPr>
        <p:spPr>
          <a:xfrm>
            <a:off x="661975" y="2352675"/>
            <a:ext cx="4381500" cy="52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500">
                <a:solidFill>
                  <a:srgbClr val="5E6470"/>
                </a:solidFill>
              </a:rPr>
              <a:t>Predict an action horizon, execute a prefix, then observe and replan.</a:t>
            </a:r>
            <a:endParaRPr/>
          </a:p>
        </p:txBody>
      </p:sp>
      <p:sp>
        <p:nvSpPr>
          <p:cNvPr id="119" name="Google Shape;119;p7"/>
          <p:cNvSpPr/>
          <p:nvPr/>
        </p:nvSpPr>
        <p:spPr>
          <a:xfrm>
            <a:off x="685800" y="2952750"/>
            <a:ext cx="4476900" cy="1000200"/>
          </a:xfrm>
          <a:prstGeom prst="rect">
            <a:avLst/>
          </a:prstGeom>
          <a:solidFill>
            <a:srgbClr val="DDF3FC"/>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904875" y="3143250"/>
            <a:ext cx="4048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100">
                <a:solidFill>
                  <a:srgbClr val="111318"/>
                </a:solidFill>
              </a:rPr>
              <a:t>oₜ → denoise N times → âₜ:ₜ</a:t>
            </a:r>
            <a:r>
              <a:rPr b="1" lang="en-US" sz="1250">
                <a:solidFill>
                  <a:srgbClr val="111318"/>
                </a:solidFill>
              </a:rPr>
              <a:t>+H</a:t>
            </a:r>
            <a:endParaRPr sz="1100"/>
          </a:p>
        </p:txBody>
      </p:sp>
      <p:sp>
        <p:nvSpPr>
          <p:cNvPr id="121" name="Google Shape;121;p7"/>
          <p:cNvSpPr/>
          <p:nvPr/>
        </p:nvSpPr>
        <p:spPr>
          <a:xfrm>
            <a:off x="1143000" y="3600450"/>
            <a:ext cx="3571800" cy="238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75">
                <a:solidFill>
                  <a:srgbClr val="5E6470"/>
                </a:solidFill>
              </a:rPr>
              <a:t>execute K actions → observe oₜ₊ₖ → replan</a:t>
            </a:r>
            <a:endParaRPr/>
          </a:p>
        </p:txBody>
      </p:sp>
      <p:sp>
        <p:nvSpPr>
          <p:cNvPr id="122" name="Google Shape;122;p7"/>
          <p:cNvSpPr/>
          <p:nvPr/>
        </p:nvSpPr>
        <p:spPr>
          <a:xfrm>
            <a:off x="685800" y="4429125"/>
            <a:ext cx="4476900" cy="409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800">
                <a:solidFill>
                  <a:srgbClr val="111318"/>
                </a:solidFill>
              </a:rPr>
              <a:t>At 10 Hz, four minutes ≈ 2,400 control steps</a:t>
            </a:r>
            <a:endParaRPr/>
          </a:p>
        </p:txBody>
      </p:sp>
      <p:sp>
        <p:nvSpPr>
          <p:cNvPr id="123" name="Google Shape;123;p7"/>
          <p:cNvSpPr/>
          <p:nvPr/>
        </p:nvSpPr>
        <p:spPr>
          <a:xfrm>
            <a:off x="685800" y="5000625"/>
            <a:ext cx="4333800" cy="61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500">
                <a:solidFill>
                  <a:srgbClr val="5E6470"/>
                </a:solidFill>
              </a:rPr>
              <a:t>Small early errors alter the next observation and compound across stages.</a:t>
            </a:r>
            <a:endParaRPr/>
          </a:p>
        </p:txBody>
      </p:sp>
      <p:sp>
        <p:nvSpPr>
          <p:cNvPr id="124" name="Google Shape;124;p7"/>
          <p:cNvSpPr/>
          <p:nvPr/>
        </p:nvSpPr>
        <p:spPr>
          <a:xfrm>
            <a:off x="6191250" y="1714500"/>
            <a:ext cx="5315100" cy="10002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
          <p:cNvSpPr/>
          <p:nvPr/>
        </p:nvSpPr>
        <p:spPr>
          <a:xfrm>
            <a:off x="6429375" y="1905000"/>
            <a:ext cx="18096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111318"/>
                </a:solidFill>
              </a:rPr>
              <a:t>(b) Checkpoint</a:t>
            </a:r>
            <a:endParaRPr/>
          </a:p>
        </p:txBody>
      </p:sp>
      <p:sp>
        <p:nvSpPr>
          <p:cNvPr id="126" name="Google Shape;126;p7"/>
          <p:cNvSpPr/>
          <p:nvPr/>
        </p:nvSpPr>
        <p:spPr>
          <a:xfrm>
            <a:off x="8334375" y="1876425"/>
            <a:ext cx="28575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75">
                <a:solidFill>
                  <a:srgbClr val="5E6470"/>
                </a:solidFill>
              </a:rPr>
              <a:t>Training loss was insufficient; multiple saved policies were tested on hardware.</a:t>
            </a:r>
            <a:endParaRPr/>
          </a:p>
        </p:txBody>
      </p:sp>
      <p:sp>
        <p:nvSpPr>
          <p:cNvPr id="127" name="Google Shape;127;p7"/>
          <p:cNvSpPr/>
          <p:nvPr/>
        </p:nvSpPr>
        <p:spPr>
          <a:xfrm>
            <a:off x="6191250" y="3000375"/>
            <a:ext cx="5315100" cy="1000200"/>
          </a:xfrm>
          <a:prstGeom prst="rect">
            <a:avLst/>
          </a:prstGeom>
          <a:solidFill>
            <a:srgbClr val="DDF3FC"/>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6429375" y="3190875"/>
            <a:ext cx="18096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3D8DFF"/>
                </a:solidFill>
              </a:rPr>
              <a:t>(c) Action steps (K)</a:t>
            </a:r>
            <a:endParaRPr/>
          </a:p>
        </p:txBody>
      </p:sp>
      <p:sp>
        <p:nvSpPr>
          <p:cNvPr id="129" name="Google Shape;129;p7"/>
          <p:cNvSpPr/>
          <p:nvPr/>
        </p:nvSpPr>
        <p:spPr>
          <a:xfrm>
            <a:off x="8334375" y="3162300"/>
            <a:ext cx="28575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75">
                <a:solidFill>
                  <a:srgbClr val="5E6470"/>
                </a:solidFill>
              </a:rPr>
              <a:t>Larger K improved smoothness but increased open-loop commitment; smaller K replanned more often.</a:t>
            </a:r>
            <a:endParaRPr/>
          </a:p>
        </p:txBody>
      </p:sp>
      <p:sp>
        <p:nvSpPr>
          <p:cNvPr id="130" name="Google Shape;130;p7"/>
          <p:cNvSpPr/>
          <p:nvPr/>
        </p:nvSpPr>
        <p:spPr>
          <a:xfrm>
            <a:off x="6191250" y="4286250"/>
            <a:ext cx="5315100" cy="10002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7"/>
          <p:cNvSpPr/>
          <p:nvPr/>
        </p:nvSpPr>
        <p:spPr>
          <a:xfrm>
            <a:off x="6429375" y="4476750"/>
            <a:ext cx="18096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725">
                <a:solidFill>
                  <a:srgbClr val="111318"/>
                </a:solidFill>
              </a:rPr>
              <a:t>(d) Inference steps (N)</a:t>
            </a:r>
            <a:endParaRPr/>
          </a:p>
        </p:txBody>
      </p:sp>
      <p:sp>
        <p:nvSpPr>
          <p:cNvPr id="132" name="Google Shape;132;p7"/>
          <p:cNvSpPr/>
          <p:nvPr/>
        </p:nvSpPr>
        <p:spPr>
          <a:xfrm>
            <a:off x="8334375" y="4448175"/>
            <a:ext cx="28575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75">
                <a:solidFill>
                  <a:srgbClr val="5E6470"/>
                </a:solidFill>
              </a:rPr>
              <a:t>More denoising could improve action quality, but increased latency and reduced responsiveness.</a:t>
            </a:r>
            <a:endParaRPr/>
          </a:p>
        </p:txBody>
      </p:sp>
      <p:sp>
        <p:nvSpPr>
          <p:cNvPr id="133" name="Google Shape;133;p7"/>
          <p:cNvSpPr/>
          <p:nvPr/>
        </p:nvSpPr>
        <p:spPr>
          <a:xfrm>
            <a:off x="6191250" y="5619750"/>
            <a:ext cx="5315100" cy="514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350">
                <a:solidFill>
                  <a:srgbClr val="111318"/>
                </a:solidFill>
              </a:rPr>
              <a:t>Example: Needle trials with K = 4, 8, or 16 could stall before insertion; the successful plateau-processed run used K = 32.</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sp>
        <p:nvSpPr>
          <p:cNvPr id="139" name="Google Shape;139;p8"/>
          <p:cNvSpPr/>
          <p:nvPr/>
        </p:nvSpPr>
        <p:spPr>
          <a:xfrm>
            <a:off x="685800" y="38100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3D8DFF"/>
                </a:solidFill>
              </a:rPr>
              <a:t>SHORT-HORIZON RESULTS</a:t>
            </a:r>
            <a:endParaRPr/>
          </a:p>
        </p:txBody>
      </p:sp>
      <p:sp>
        <p:nvSpPr>
          <p:cNvPr id="140" name="Google Shape;140;p8"/>
          <p:cNvSpPr/>
          <p:nvPr/>
        </p:nvSpPr>
        <p:spPr>
          <a:xfrm>
            <a:off x="685800" y="685800"/>
            <a:ext cx="108204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750">
                <a:solidFill>
                  <a:srgbClr val="111318"/>
                </a:solidFill>
              </a:rPr>
              <a:t>Fine-tuning transferred useful behavior in short-horizon tasks</a:t>
            </a:r>
            <a:endParaRPr sz="1300"/>
          </a:p>
        </p:txBody>
      </p:sp>
      <p:cxnSp>
        <p:nvCxnSpPr>
          <p:cNvPr id="141" name="Google Shape;141;p8"/>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pic>
        <p:nvPicPr>
          <p:cNvPr id="142" name="Google Shape;142;p8"/>
          <p:cNvPicPr preferRelativeResize="0"/>
          <p:nvPr/>
        </p:nvPicPr>
        <p:blipFill rotWithShape="1">
          <a:blip r:embed="rId3">
            <a:alphaModFix/>
          </a:blip>
          <a:srcRect b="0" l="0" r="0" t="0"/>
          <a:stretch/>
        </p:blipFill>
        <p:spPr>
          <a:xfrm>
            <a:off x="685800" y="1666875"/>
            <a:ext cx="7239000" cy="3857700"/>
          </a:xfrm>
          <a:prstGeom prst="rect">
            <a:avLst/>
          </a:prstGeom>
          <a:noFill/>
          <a:ln>
            <a:noFill/>
          </a:ln>
        </p:spPr>
      </p:pic>
      <p:sp>
        <p:nvSpPr>
          <p:cNvPr id="143" name="Google Shape;143;p8"/>
          <p:cNvSpPr/>
          <p:nvPr/>
        </p:nvSpPr>
        <p:spPr>
          <a:xfrm>
            <a:off x="8429625" y="1952625"/>
            <a:ext cx="2286000" cy="438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850">
                <a:solidFill>
                  <a:srgbClr val="3D8DFF"/>
                </a:solidFill>
              </a:rPr>
              <a:t>+11 pp</a:t>
            </a:r>
            <a:endParaRPr/>
          </a:p>
        </p:txBody>
      </p:sp>
      <p:sp>
        <p:nvSpPr>
          <p:cNvPr id="144" name="Google Shape;144;p8"/>
          <p:cNvSpPr/>
          <p:nvPr/>
        </p:nvSpPr>
        <p:spPr>
          <a:xfrm>
            <a:off x="8429625" y="2476500"/>
            <a:ext cx="2571900" cy="571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75">
                <a:solidFill>
                  <a:srgbClr val="111318"/>
                </a:solidFill>
              </a:rPr>
              <a:t>Needle: fine-tuning improved 68% → 79%</a:t>
            </a:r>
            <a:endParaRPr/>
          </a:p>
        </p:txBody>
      </p:sp>
      <p:sp>
        <p:nvSpPr>
          <p:cNvPr id="145" name="Google Shape;145;p8"/>
          <p:cNvSpPr/>
          <p:nvPr/>
        </p:nvSpPr>
        <p:spPr>
          <a:xfrm>
            <a:off x="8429625" y="3381375"/>
            <a:ext cx="12384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a:solidFill>
                  <a:srgbClr val="111318"/>
                </a:solidFill>
              </a:rPr>
              <a:t>Uncap</a:t>
            </a:r>
            <a:endParaRPr/>
          </a:p>
        </p:txBody>
      </p:sp>
      <p:sp>
        <p:nvSpPr>
          <p:cNvPr id="146" name="Google Shape;146;p8"/>
          <p:cNvSpPr/>
          <p:nvPr/>
        </p:nvSpPr>
        <p:spPr>
          <a:xfrm>
            <a:off x="8429625" y="3743325"/>
            <a:ext cx="26193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50">
                <a:solidFill>
                  <a:srgbClr val="5E6470"/>
                </a:solidFill>
              </a:rPr>
              <a:t>Fine-tuning matched the 100% scratch baseline.</a:t>
            </a:r>
            <a:endParaRPr/>
          </a:p>
        </p:txBody>
      </p:sp>
      <p:sp>
        <p:nvSpPr>
          <p:cNvPr id="147" name="Google Shape;147;p8"/>
          <p:cNvSpPr/>
          <p:nvPr/>
        </p:nvSpPr>
        <p:spPr>
          <a:xfrm>
            <a:off x="8405813" y="4439375"/>
            <a:ext cx="12384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a:solidFill>
                  <a:srgbClr val="111318"/>
                </a:solidFill>
              </a:rPr>
              <a:t>Cap</a:t>
            </a:r>
            <a:endParaRPr/>
          </a:p>
        </p:txBody>
      </p:sp>
      <p:sp>
        <p:nvSpPr>
          <p:cNvPr id="148" name="Google Shape;148;p8"/>
          <p:cNvSpPr/>
          <p:nvPr/>
        </p:nvSpPr>
        <p:spPr>
          <a:xfrm>
            <a:off x="8405813" y="4801325"/>
            <a:ext cx="26193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50">
                <a:solidFill>
                  <a:srgbClr val="5E6470"/>
                </a:solidFill>
              </a:rPr>
              <a:t>Fine-tuning did not improve the low-performing baseline.</a:t>
            </a:r>
            <a:endParaRPr/>
          </a:p>
        </p:txBody>
      </p:sp>
      <p:sp>
        <p:nvSpPr>
          <p:cNvPr id="149" name="Google Shape;149;p8"/>
          <p:cNvSpPr/>
          <p:nvPr/>
        </p:nvSpPr>
        <p:spPr>
          <a:xfrm>
            <a:off x="685800" y="5695950"/>
            <a:ext cx="10820400" cy="533400"/>
          </a:xfrm>
          <a:prstGeom prst="rect">
            <a:avLst/>
          </a:prstGeom>
          <a:solidFill>
            <a:srgbClr val="EDEDED"/>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800100" y="5705475"/>
            <a:ext cx="10439400" cy="362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111318"/>
                </a:solidFill>
              </a:rPr>
              <a:t>Task selection: varied scratch success (68%, 100%, 35%) across precise and contact-rich manipulation. Fine-tuning helped selectively, not uniformly.</a:t>
            </a:r>
            <a:endParaRPr/>
          </a:p>
        </p:txBody>
      </p:sp>
      <p:sp>
        <p:nvSpPr>
          <p:cNvPr id="151" name="Google Shape;151;p8"/>
          <p:cNvSpPr txBox="1"/>
          <p:nvPr/>
        </p:nvSpPr>
        <p:spPr>
          <a:xfrm>
            <a:off x="2069872" y="4599432"/>
            <a:ext cx="384000" cy="2286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50">
                <a:solidFill>
                  <a:srgbClr val="111318"/>
                </a:solidFill>
              </a:rPr>
              <a:t>0</a:t>
            </a:r>
            <a:endParaRPr b="1" sz="1050">
              <a:solidFill>
                <a:srgbClr val="111318"/>
              </a:solidFill>
            </a:endParaRPr>
          </a:p>
        </p:txBody>
      </p:sp>
      <p:sp>
        <p:nvSpPr>
          <p:cNvPr id="152" name="Google Shape;152;p8"/>
          <p:cNvSpPr txBox="1"/>
          <p:nvPr/>
        </p:nvSpPr>
        <p:spPr>
          <a:xfrm>
            <a:off x="6518086" y="4599432"/>
            <a:ext cx="384000" cy="2286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50">
                <a:solidFill>
                  <a:srgbClr val="111318"/>
                </a:solidFill>
              </a:rPr>
              <a:t>0</a:t>
            </a:r>
            <a:endParaRPr b="1" sz="1050">
              <a:solidFill>
                <a:srgbClr val="11131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9"/>
          <p:cNvSpPr/>
          <p:nvPr/>
        </p:nvSpPr>
        <p:spPr>
          <a:xfrm>
            <a:off x="685800" y="38100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3D8DFF"/>
                </a:solidFill>
              </a:rPr>
              <a:t>LONG-HORIZON RESULTS</a:t>
            </a:r>
            <a:endParaRPr/>
          </a:p>
        </p:txBody>
      </p:sp>
      <p:sp>
        <p:nvSpPr>
          <p:cNvPr id="159" name="Google Shape;159;p9"/>
          <p:cNvSpPr/>
          <p:nvPr/>
        </p:nvSpPr>
        <p:spPr>
          <a:xfrm>
            <a:off x="685800" y="685800"/>
            <a:ext cx="108204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2850">
                <a:solidFill>
                  <a:srgbClr val="111318"/>
                </a:solidFill>
              </a:rPr>
              <a:t>Fine-tuning improved all three long-horizon tasks</a:t>
            </a:r>
            <a:endParaRPr/>
          </a:p>
        </p:txBody>
      </p:sp>
      <p:cxnSp>
        <p:nvCxnSpPr>
          <p:cNvPr id="160" name="Google Shape;160;p9"/>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pic>
        <p:nvPicPr>
          <p:cNvPr id="161" name="Google Shape;161;p9"/>
          <p:cNvPicPr preferRelativeResize="0"/>
          <p:nvPr/>
        </p:nvPicPr>
        <p:blipFill rotWithShape="1">
          <a:blip r:embed="rId3">
            <a:alphaModFix/>
          </a:blip>
          <a:srcRect b="0" l="0" r="0" t="0"/>
          <a:stretch/>
        </p:blipFill>
        <p:spPr>
          <a:xfrm>
            <a:off x="685800" y="1666875"/>
            <a:ext cx="5905500" cy="3333900"/>
          </a:xfrm>
          <a:prstGeom prst="rect">
            <a:avLst/>
          </a:prstGeom>
          <a:noFill/>
          <a:ln>
            <a:noFill/>
          </a:ln>
        </p:spPr>
      </p:pic>
      <p:sp>
        <p:nvSpPr>
          <p:cNvPr id="162" name="Google Shape;162;p9"/>
          <p:cNvSpPr/>
          <p:nvPr/>
        </p:nvSpPr>
        <p:spPr>
          <a:xfrm>
            <a:off x="7213400" y="1552575"/>
            <a:ext cx="39054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50">
                <a:solidFill>
                  <a:srgbClr val="111318"/>
                </a:solidFill>
              </a:rPr>
              <a:t>Experiment 1 stage-level completion</a:t>
            </a:r>
            <a:endParaRPr sz="1000"/>
          </a:p>
        </p:txBody>
      </p:sp>
      <p:sp>
        <p:nvSpPr>
          <p:cNvPr id="163" name="Google Shape;163;p9"/>
          <p:cNvSpPr/>
          <p:nvPr/>
        </p:nvSpPr>
        <p:spPr>
          <a:xfrm>
            <a:off x="7239000" y="2190750"/>
            <a:ext cx="11907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75">
                <a:solidFill>
                  <a:srgbClr val="5E6470"/>
                </a:solidFill>
              </a:rPr>
              <a:t>Stir bar</a:t>
            </a:r>
            <a:endParaRPr/>
          </a:p>
        </p:txBody>
      </p:sp>
      <p:sp>
        <p:nvSpPr>
          <p:cNvPr id="164" name="Google Shape;164;p9"/>
          <p:cNvSpPr/>
          <p:nvPr/>
        </p:nvSpPr>
        <p:spPr>
          <a:xfrm>
            <a:off x="8496300" y="2209800"/>
            <a:ext cx="2143200" cy="171600"/>
          </a:xfrm>
          <a:prstGeom prst="rect">
            <a:avLst/>
          </a:prstGeom>
          <a:solidFill>
            <a:srgbClr val="E4E7EB"/>
          </a:solidFill>
          <a:ln cap="flat" cmpd="sng" w="9525">
            <a:solidFill>
              <a:srgbClr val="E4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8496300" y="2209800"/>
            <a:ext cx="1714500" cy="171600"/>
          </a:xfrm>
          <a:prstGeom prst="rect">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10648950" y="2171700"/>
            <a:ext cx="6477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1125">
                <a:solidFill>
                  <a:srgbClr val="111318"/>
                </a:solidFill>
              </a:rPr>
              <a:t>80%</a:t>
            </a:r>
            <a:endParaRPr/>
          </a:p>
        </p:txBody>
      </p:sp>
      <p:sp>
        <p:nvSpPr>
          <p:cNvPr id="167" name="Google Shape;167;p9"/>
          <p:cNvSpPr/>
          <p:nvPr/>
        </p:nvSpPr>
        <p:spPr>
          <a:xfrm>
            <a:off x="7239000" y="2686050"/>
            <a:ext cx="11907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75">
                <a:solidFill>
                  <a:srgbClr val="5E6470"/>
                </a:solidFill>
              </a:rPr>
              <a:t>Funnel on</a:t>
            </a:r>
            <a:endParaRPr/>
          </a:p>
        </p:txBody>
      </p:sp>
      <p:sp>
        <p:nvSpPr>
          <p:cNvPr id="168" name="Google Shape;168;p9"/>
          <p:cNvSpPr/>
          <p:nvPr/>
        </p:nvSpPr>
        <p:spPr>
          <a:xfrm>
            <a:off x="8496300" y="2705100"/>
            <a:ext cx="2143200" cy="171600"/>
          </a:xfrm>
          <a:prstGeom prst="rect">
            <a:avLst/>
          </a:prstGeom>
          <a:solidFill>
            <a:srgbClr val="E4E7EB"/>
          </a:solidFill>
          <a:ln cap="flat" cmpd="sng" w="9525">
            <a:solidFill>
              <a:srgbClr val="E4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8496300" y="2705100"/>
            <a:ext cx="1205400" cy="171600"/>
          </a:xfrm>
          <a:prstGeom prst="rect">
            <a:avLst/>
          </a:prstGeom>
          <a:solidFill>
            <a:srgbClr val="6DCBF4"/>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p:nvPr/>
        </p:nvSpPr>
        <p:spPr>
          <a:xfrm>
            <a:off x="10648950" y="2667000"/>
            <a:ext cx="6477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1125">
                <a:solidFill>
                  <a:srgbClr val="111318"/>
                </a:solidFill>
              </a:rPr>
              <a:t>56%</a:t>
            </a:r>
            <a:endParaRPr/>
          </a:p>
        </p:txBody>
      </p:sp>
      <p:sp>
        <p:nvSpPr>
          <p:cNvPr id="171" name="Google Shape;171;p9"/>
          <p:cNvSpPr/>
          <p:nvPr/>
        </p:nvSpPr>
        <p:spPr>
          <a:xfrm>
            <a:off x="7239000" y="3181350"/>
            <a:ext cx="11907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75">
                <a:solidFill>
                  <a:srgbClr val="5E6470"/>
                </a:solidFill>
              </a:rPr>
              <a:t>Solid</a:t>
            </a:r>
            <a:endParaRPr/>
          </a:p>
        </p:txBody>
      </p:sp>
      <p:sp>
        <p:nvSpPr>
          <p:cNvPr id="172" name="Google Shape;172;p9"/>
          <p:cNvSpPr/>
          <p:nvPr/>
        </p:nvSpPr>
        <p:spPr>
          <a:xfrm>
            <a:off x="8496300" y="3200400"/>
            <a:ext cx="2143200" cy="171600"/>
          </a:xfrm>
          <a:prstGeom prst="rect">
            <a:avLst/>
          </a:prstGeom>
          <a:solidFill>
            <a:srgbClr val="E4E7EB"/>
          </a:solidFill>
          <a:ln cap="flat" cmpd="sng" w="9525">
            <a:solidFill>
              <a:srgbClr val="E4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
          <p:cNvSpPr/>
          <p:nvPr/>
        </p:nvSpPr>
        <p:spPr>
          <a:xfrm>
            <a:off x="8496300" y="3200400"/>
            <a:ext cx="2143200" cy="171600"/>
          </a:xfrm>
          <a:prstGeom prst="rect">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10648950" y="3162300"/>
            <a:ext cx="6477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1125">
                <a:solidFill>
                  <a:srgbClr val="111318"/>
                </a:solidFill>
              </a:rPr>
              <a:t>100%</a:t>
            </a:r>
            <a:endParaRPr/>
          </a:p>
        </p:txBody>
      </p:sp>
      <p:sp>
        <p:nvSpPr>
          <p:cNvPr id="175" name="Google Shape;175;p9"/>
          <p:cNvSpPr/>
          <p:nvPr/>
        </p:nvSpPr>
        <p:spPr>
          <a:xfrm>
            <a:off x="7239000" y="3676650"/>
            <a:ext cx="11907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75">
                <a:solidFill>
                  <a:srgbClr val="5E6470"/>
                </a:solidFill>
              </a:rPr>
              <a:t>Liquid</a:t>
            </a:r>
            <a:endParaRPr/>
          </a:p>
        </p:txBody>
      </p:sp>
      <p:sp>
        <p:nvSpPr>
          <p:cNvPr id="176" name="Google Shape;176;p9"/>
          <p:cNvSpPr/>
          <p:nvPr/>
        </p:nvSpPr>
        <p:spPr>
          <a:xfrm>
            <a:off x="8496300" y="3695700"/>
            <a:ext cx="2143200" cy="171600"/>
          </a:xfrm>
          <a:prstGeom prst="rect">
            <a:avLst/>
          </a:prstGeom>
          <a:solidFill>
            <a:srgbClr val="E4E7EB"/>
          </a:solidFill>
          <a:ln cap="flat" cmpd="sng" w="9525">
            <a:solidFill>
              <a:srgbClr val="E4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9"/>
          <p:cNvSpPr/>
          <p:nvPr/>
        </p:nvSpPr>
        <p:spPr>
          <a:xfrm>
            <a:off x="8496300" y="3695700"/>
            <a:ext cx="1905000" cy="171600"/>
          </a:xfrm>
          <a:prstGeom prst="rect">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
          <p:cNvSpPr/>
          <p:nvPr/>
        </p:nvSpPr>
        <p:spPr>
          <a:xfrm>
            <a:off x="10648950" y="3657600"/>
            <a:ext cx="6477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1125">
                <a:solidFill>
                  <a:srgbClr val="111318"/>
                </a:solidFill>
              </a:rPr>
              <a:t>89%</a:t>
            </a:r>
            <a:endParaRPr/>
          </a:p>
        </p:txBody>
      </p:sp>
      <p:sp>
        <p:nvSpPr>
          <p:cNvPr id="179" name="Google Shape;179;p9"/>
          <p:cNvSpPr/>
          <p:nvPr/>
        </p:nvSpPr>
        <p:spPr>
          <a:xfrm>
            <a:off x="7239000" y="4171950"/>
            <a:ext cx="11907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75">
                <a:solidFill>
                  <a:srgbClr val="5E6470"/>
                </a:solidFill>
              </a:rPr>
              <a:t>Funnel off</a:t>
            </a:r>
            <a:endParaRPr/>
          </a:p>
        </p:txBody>
      </p:sp>
      <p:sp>
        <p:nvSpPr>
          <p:cNvPr id="180" name="Google Shape;180;p9"/>
          <p:cNvSpPr/>
          <p:nvPr/>
        </p:nvSpPr>
        <p:spPr>
          <a:xfrm>
            <a:off x="8496300" y="4191000"/>
            <a:ext cx="2143200" cy="171600"/>
          </a:xfrm>
          <a:prstGeom prst="rect">
            <a:avLst/>
          </a:prstGeom>
          <a:solidFill>
            <a:srgbClr val="E4E7EB"/>
          </a:solidFill>
          <a:ln cap="flat" cmpd="sng" w="9525">
            <a:solidFill>
              <a:srgbClr val="E4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8496300" y="4191000"/>
            <a:ext cx="2143200" cy="171600"/>
          </a:xfrm>
          <a:prstGeom prst="rect">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9"/>
          <p:cNvSpPr/>
          <p:nvPr/>
        </p:nvSpPr>
        <p:spPr>
          <a:xfrm>
            <a:off x="10648950" y="4152900"/>
            <a:ext cx="6477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1125">
                <a:solidFill>
                  <a:srgbClr val="111318"/>
                </a:solidFill>
              </a:rPr>
              <a:t>100%</a:t>
            </a:r>
            <a:endParaRPr/>
          </a:p>
        </p:txBody>
      </p:sp>
      <p:sp>
        <p:nvSpPr>
          <p:cNvPr id="183" name="Google Shape;183;p9"/>
          <p:cNvSpPr/>
          <p:nvPr/>
        </p:nvSpPr>
        <p:spPr>
          <a:xfrm>
            <a:off x="7239000" y="4667250"/>
            <a:ext cx="11907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75">
                <a:solidFill>
                  <a:srgbClr val="5E6470"/>
                </a:solidFill>
              </a:rPr>
              <a:t>Septum</a:t>
            </a:r>
            <a:endParaRPr/>
          </a:p>
        </p:txBody>
      </p:sp>
      <p:sp>
        <p:nvSpPr>
          <p:cNvPr id="184" name="Google Shape;184;p9"/>
          <p:cNvSpPr/>
          <p:nvPr/>
        </p:nvSpPr>
        <p:spPr>
          <a:xfrm>
            <a:off x="8496300" y="4686300"/>
            <a:ext cx="2143200" cy="171600"/>
          </a:xfrm>
          <a:prstGeom prst="rect">
            <a:avLst/>
          </a:prstGeom>
          <a:solidFill>
            <a:srgbClr val="E4E7EB"/>
          </a:solidFill>
          <a:ln cap="flat" cmpd="sng" w="9525">
            <a:solidFill>
              <a:srgbClr val="E4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p:nvPr/>
        </p:nvSpPr>
        <p:spPr>
          <a:xfrm>
            <a:off x="8496300" y="4686300"/>
            <a:ext cx="1339500" cy="171600"/>
          </a:xfrm>
          <a:prstGeom prst="rect">
            <a:avLst/>
          </a:prstGeom>
          <a:solidFill>
            <a:srgbClr val="6DCBF4"/>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10648950" y="4648200"/>
            <a:ext cx="647700" cy="2286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r>
              <a:rPr b="1" i="0" lang="en-US" sz="1125">
                <a:solidFill>
                  <a:srgbClr val="111318"/>
                </a:solidFill>
              </a:rPr>
              <a:t>63%</a:t>
            </a:r>
            <a:endParaRPr/>
          </a:p>
        </p:txBody>
      </p:sp>
      <p:sp>
        <p:nvSpPr>
          <p:cNvPr id="187" name="Google Shape;187;p9"/>
          <p:cNvSpPr/>
          <p:nvPr/>
        </p:nvSpPr>
        <p:spPr>
          <a:xfrm>
            <a:off x="7239000" y="5286375"/>
            <a:ext cx="4267200" cy="1000200"/>
          </a:xfrm>
          <a:prstGeom prst="rect">
            <a:avLst/>
          </a:prstGeom>
          <a:solidFill>
            <a:srgbClr val="DDF3FC"/>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
          <p:cNvSpPr/>
          <p:nvPr/>
        </p:nvSpPr>
        <p:spPr>
          <a:xfrm>
            <a:off x="7448550" y="5353038"/>
            <a:ext cx="381000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725">
                <a:solidFill>
                  <a:srgbClr val="3D8DFF"/>
                </a:solidFill>
              </a:rPr>
              <a:t>30k checkpoint · K = 32</a:t>
            </a:r>
            <a:endParaRPr/>
          </a:p>
        </p:txBody>
      </p:sp>
      <p:sp>
        <p:nvSpPr>
          <p:cNvPr id="189" name="Google Shape;189;p9"/>
          <p:cNvSpPr/>
          <p:nvPr/>
        </p:nvSpPr>
        <p:spPr>
          <a:xfrm>
            <a:off x="7448550" y="5724513"/>
            <a:ext cx="3714900" cy="333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75">
                <a:solidFill>
                  <a:srgbClr val="5E6470"/>
                </a:solidFill>
              </a:rPr>
              <a:t>Overall success 27.8%; septum remained the terminal bottleneck.</a:t>
            </a:r>
            <a:endParaRPr/>
          </a:p>
        </p:txBody>
      </p:sp>
      <p:sp>
        <p:nvSpPr>
          <p:cNvPr id="190" name="Google Shape;190;p9"/>
          <p:cNvSpPr txBox="1"/>
          <p:nvPr/>
        </p:nvSpPr>
        <p:spPr>
          <a:xfrm>
            <a:off x="1450818" y="4075820"/>
            <a:ext cx="384000" cy="2286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50">
                <a:solidFill>
                  <a:srgbClr val="111318"/>
                </a:solidFill>
              </a:rPr>
              <a:t>0</a:t>
            </a:r>
            <a:endParaRPr b="1" sz="1050">
              <a:solidFill>
                <a:srgbClr val="111318"/>
              </a:solidFill>
            </a:endParaRPr>
          </a:p>
        </p:txBody>
      </p:sp>
      <p:sp>
        <p:nvSpPr>
          <p:cNvPr id="191" name="Google Shape;191;p9"/>
          <p:cNvSpPr txBox="1"/>
          <p:nvPr/>
        </p:nvSpPr>
        <p:spPr>
          <a:xfrm>
            <a:off x="5036427" y="4075836"/>
            <a:ext cx="384000" cy="228600"/>
          </a:xfrm>
          <a:prstGeom prst="rect">
            <a:avLst/>
          </a:prstGeom>
          <a:solidFill>
            <a:srgbClr val="FFFFFF"/>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50">
                <a:solidFill>
                  <a:srgbClr val="111318"/>
                </a:solidFill>
              </a:rPr>
              <a:t>0</a:t>
            </a:r>
            <a:endParaRPr b="1" sz="1050">
              <a:solidFill>
                <a:srgbClr val="11131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0"/>
          <p:cNvSpPr txBox="1"/>
          <p:nvPr/>
        </p:nvSpPr>
        <p:spPr>
          <a:xfrm>
            <a:off x="658368" y="365760"/>
            <a:ext cx="41148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50">
                <a:solidFill>
                  <a:srgbClr val="3D8DFF"/>
                </a:solidFill>
              </a:rPr>
              <a:t>DEPLOYMENT</a:t>
            </a:r>
            <a:endParaRPr b="1" sz="1050">
              <a:solidFill>
                <a:srgbClr val="3D8DFF"/>
              </a:solidFill>
            </a:endParaRPr>
          </a:p>
        </p:txBody>
      </p:sp>
      <p:sp>
        <p:nvSpPr>
          <p:cNvPr id="198" name="Google Shape;198;p10"/>
          <p:cNvSpPr txBox="1"/>
          <p:nvPr/>
        </p:nvSpPr>
        <p:spPr>
          <a:xfrm>
            <a:off x="658368" y="685800"/>
            <a:ext cx="10789800" cy="5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750">
                <a:solidFill>
                  <a:srgbClr val="111318"/>
                </a:solidFill>
              </a:rPr>
              <a:t>Needle insertion: precision manipulation under visual feedback</a:t>
            </a:r>
            <a:endParaRPr b="1" sz="2750">
              <a:solidFill>
                <a:srgbClr val="111318"/>
              </a:solidFill>
            </a:endParaRPr>
          </a:p>
        </p:txBody>
      </p:sp>
      <p:sp>
        <p:nvSpPr>
          <p:cNvPr id="199" name="Google Shape;199;p10"/>
          <p:cNvSpPr/>
          <p:nvPr/>
        </p:nvSpPr>
        <p:spPr>
          <a:xfrm>
            <a:off x="658368" y="1298448"/>
            <a:ext cx="10881300" cy="11100"/>
          </a:xfrm>
          <a:prstGeom prst="rect">
            <a:avLst/>
          </a:prstGeom>
          <a:solidFill>
            <a:srgbClr val="B8BDC4"/>
          </a:solidFill>
          <a:ln cap="flat" cmpd="sng" w="9525">
            <a:solidFill>
              <a:srgbClr val="B8BDC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10"/>
          <p:cNvSpPr txBox="1"/>
          <p:nvPr/>
        </p:nvSpPr>
        <p:spPr>
          <a:xfrm>
            <a:off x="658368" y="1481328"/>
            <a:ext cx="52122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11318"/>
                </a:solidFill>
              </a:rPr>
              <a:t>(a) External camera recording</a:t>
            </a:r>
            <a:endParaRPr b="1">
              <a:solidFill>
                <a:srgbClr val="111318"/>
              </a:solidFill>
            </a:endParaRPr>
          </a:p>
        </p:txBody>
      </p:sp>
      <p:sp>
        <p:nvSpPr>
          <p:cNvPr id="201" name="Google Shape;201;p10"/>
          <p:cNvSpPr txBox="1"/>
          <p:nvPr/>
        </p:nvSpPr>
        <p:spPr>
          <a:xfrm>
            <a:off x="6291072" y="1481328"/>
            <a:ext cx="52122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11318"/>
                </a:solidFill>
              </a:rPr>
              <a:t>(b) Internal camera views</a:t>
            </a:r>
            <a:endParaRPr b="1">
              <a:solidFill>
                <a:srgbClr val="111318"/>
              </a:solidFill>
            </a:endParaRPr>
          </a:p>
        </p:txBody>
      </p:sp>
      <p:sp>
        <p:nvSpPr>
          <p:cNvPr id="202" name="Google Shape;202;p10"/>
          <p:cNvSpPr/>
          <p:nvPr/>
        </p:nvSpPr>
        <p:spPr>
          <a:xfrm>
            <a:off x="658368" y="5102352"/>
            <a:ext cx="10863000" cy="658500"/>
          </a:xfrm>
          <a:prstGeom prst="rect">
            <a:avLst/>
          </a:prstGeom>
          <a:solidFill>
            <a:srgbClr val="EDEDED"/>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10"/>
          <p:cNvSpPr txBox="1"/>
          <p:nvPr/>
        </p:nvSpPr>
        <p:spPr>
          <a:xfrm>
            <a:off x="923462" y="5164375"/>
            <a:ext cx="41148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rgbClr val="111318"/>
                </a:solidFill>
              </a:rPr>
              <a:t>Plateau-processed · 30k checkpoint · K = 32</a:t>
            </a:r>
            <a:endParaRPr b="1" sz="1300">
              <a:solidFill>
                <a:srgbClr val="111318"/>
              </a:solidFill>
            </a:endParaRPr>
          </a:p>
        </p:txBody>
      </p:sp>
      <p:sp>
        <p:nvSpPr>
          <p:cNvPr id="204" name="Google Shape;204;p10"/>
          <p:cNvSpPr txBox="1"/>
          <p:nvPr/>
        </p:nvSpPr>
        <p:spPr>
          <a:xfrm>
            <a:off x="4690790" y="5136943"/>
            <a:ext cx="6492300" cy="32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50">
                <a:solidFill>
                  <a:srgbClr val="5E6470"/>
                </a:solidFill>
              </a:rPr>
              <a:t>The rollout succeeds visually, but contact onset and septum penetration remain only indirectly observable.</a:t>
            </a:r>
            <a:endParaRPr sz="1250">
              <a:solidFill>
                <a:srgbClr val="5E6470"/>
              </a:solidFill>
            </a:endParaRPr>
          </a:p>
        </p:txBody>
      </p:sp>
      <p:pic>
        <p:nvPicPr>
          <p:cNvPr id="205" name="Google Shape;205;p10" title="needle.mp4">
            <a:hlinkClick r:id="rId3"/>
          </p:cNvPr>
          <p:cNvPicPr preferRelativeResize="0"/>
          <p:nvPr/>
        </p:nvPicPr>
        <p:blipFill>
          <a:blip r:embed="rId4">
            <a:alphaModFix/>
          </a:blip>
          <a:stretch>
            <a:fillRect/>
          </a:stretch>
        </p:blipFill>
        <p:spPr>
          <a:xfrm>
            <a:off x="6344075" y="1807500"/>
            <a:ext cx="5375488" cy="3023726"/>
          </a:xfrm>
          <a:prstGeom prst="rect">
            <a:avLst/>
          </a:prstGeom>
          <a:noFill/>
          <a:ln>
            <a:noFill/>
          </a:ln>
        </p:spPr>
      </p:pic>
      <p:pic>
        <p:nvPicPr>
          <p:cNvPr id="206" name="Google Shape;206;p10" title="IMG_6437.MOV">
            <a:hlinkClick r:id="rId5"/>
          </p:cNvPr>
          <p:cNvPicPr preferRelativeResize="0"/>
          <p:nvPr/>
        </p:nvPicPr>
        <p:blipFill>
          <a:blip r:embed="rId6">
            <a:alphaModFix/>
          </a:blip>
          <a:stretch>
            <a:fillRect/>
          </a:stretch>
        </p:blipFill>
        <p:spPr>
          <a:xfrm>
            <a:off x="658375" y="1807490"/>
            <a:ext cx="5375510" cy="3023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1000"/>
                                        <p:tgtEl>
                                          <p:spTgt spid="205"/>
                                        </p:tgtEl>
                                      </p:cBhvr>
                                    </p:animEffect>
                                  </p:childTnLst>
                                </p:cTn>
                              </p:par>
                              <p:par>
                                <p:cTn fill="hold" nodeType="with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1000"/>
                                        <p:tgtEl>
                                          <p:spTgt spid="2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1"/>
          <p:cNvSpPr txBox="1"/>
          <p:nvPr/>
        </p:nvSpPr>
        <p:spPr>
          <a:xfrm>
            <a:off x="658368" y="365760"/>
            <a:ext cx="41148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50">
                <a:solidFill>
                  <a:srgbClr val="3D8DFF"/>
                </a:solidFill>
              </a:rPr>
              <a:t>DEPLOYMENT</a:t>
            </a:r>
            <a:endParaRPr b="1" sz="1050">
              <a:solidFill>
                <a:srgbClr val="3D8DFF"/>
              </a:solidFill>
            </a:endParaRPr>
          </a:p>
        </p:txBody>
      </p:sp>
      <p:sp>
        <p:nvSpPr>
          <p:cNvPr id="213" name="Google Shape;213;p11"/>
          <p:cNvSpPr txBox="1"/>
          <p:nvPr/>
        </p:nvSpPr>
        <p:spPr>
          <a:xfrm>
            <a:off x="658368" y="685800"/>
            <a:ext cx="10789800" cy="50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850">
                <a:solidFill>
                  <a:srgbClr val="111318"/>
                </a:solidFill>
              </a:rPr>
              <a:t>Long Horizon: a successful synthesis rollout</a:t>
            </a:r>
            <a:endParaRPr b="1" sz="2850">
              <a:solidFill>
                <a:srgbClr val="111318"/>
              </a:solidFill>
            </a:endParaRPr>
          </a:p>
        </p:txBody>
      </p:sp>
      <p:sp>
        <p:nvSpPr>
          <p:cNvPr id="214" name="Google Shape;214;p11"/>
          <p:cNvSpPr/>
          <p:nvPr/>
        </p:nvSpPr>
        <p:spPr>
          <a:xfrm>
            <a:off x="658368" y="1298448"/>
            <a:ext cx="10881300" cy="11100"/>
          </a:xfrm>
          <a:prstGeom prst="rect">
            <a:avLst/>
          </a:prstGeom>
          <a:solidFill>
            <a:srgbClr val="B8BDC4"/>
          </a:solidFill>
          <a:ln cap="flat" cmpd="sng" w="9525">
            <a:solidFill>
              <a:srgbClr val="B8BDC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5" name="Google Shape;215;p11"/>
          <p:cNvSpPr txBox="1"/>
          <p:nvPr/>
        </p:nvSpPr>
        <p:spPr>
          <a:xfrm>
            <a:off x="658368" y="1481328"/>
            <a:ext cx="52122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11318"/>
                </a:solidFill>
              </a:rPr>
              <a:t>(a) External camera recording</a:t>
            </a:r>
            <a:endParaRPr b="1">
              <a:solidFill>
                <a:srgbClr val="111318"/>
              </a:solidFill>
            </a:endParaRPr>
          </a:p>
        </p:txBody>
      </p:sp>
      <p:sp>
        <p:nvSpPr>
          <p:cNvPr id="216" name="Google Shape;216;p11"/>
          <p:cNvSpPr txBox="1"/>
          <p:nvPr/>
        </p:nvSpPr>
        <p:spPr>
          <a:xfrm>
            <a:off x="6291072" y="1481328"/>
            <a:ext cx="52122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solidFill>
                  <a:srgbClr val="111318"/>
                </a:solidFill>
              </a:rPr>
              <a:t>(b) Internal camera views</a:t>
            </a:r>
            <a:endParaRPr b="1">
              <a:solidFill>
                <a:srgbClr val="111318"/>
              </a:solidFill>
            </a:endParaRPr>
          </a:p>
        </p:txBody>
      </p:sp>
      <p:sp>
        <p:nvSpPr>
          <p:cNvPr id="217" name="Google Shape;217;p11"/>
          <p:cNvSpPr/>
          <p:nvPr/>
        </p:nvSpPr>
        <p:spPr>
          <a:xfrm>
            <a:off x="658368" y="5102352"/>
            <a:ext cx="10863000" cy="658500"/>
          </a:xfrm>
          <a:prstGeom prst="rect">
            <a:avLst/>
          </a:prstGeom>
          <a:solidFill>
            <a:srgbClr val="EDEDED"/>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8" name="Google Shape;218;p11"/>
          <p:cNvSpPr txBox="1"/>
          <p:nvPr/>
        </p:nvSpPr>
        <p:spPr>
          <a:xfrm>
            <a:off x="923462" y="5164375"/>
            <a:ext cx="41148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rgbClr val="111318"/>
                </a:solidFill>
              </a:rPr>
              <a:t>Plateau-processed · 30k checkpoint · K = 32</a:t>
            </a:r>
            <a:endParaRPr b="1" sz="1300">
              <a:solidFill>
                <a:srgbClr val="111318"/>
              </a:solidFill>
            </a:endParaRPr>
          </a:p>
        </p:txBody>
      </p:sp>
      <p:sp>
        <p:nvSpPr>
          <p:cNvPr id="219" name="Google Shape;219;p11"/>
          <p:cNvSpPr txBox="1"/>
          <p:nvPr/>
        </p:nvSpPr>
        <p:spPr>
          <a:xfrm>
            <a:off x="4690790" y="5136943"/>
            <a:ext cx="6492300" cy="32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50">
                <a:solidFill>
                  <a:srgbClr val="5E6470"/>
                </a:solidFill>
              </a:rPr>
              <a:t>Internal views expose bimanual coordination; the external recording shows full-task continuity and physical outcomes.</a:t>
            </a:r>
            <a:endParaRPr sz="1250">
              <a:solidFill>
                <a:srgbClr val="5E6470"/>
              </a:solidFill>
            </a:endParaRPr>
          </a:p>
        </p:txBody>
      </p:sp>
      <p:pic>
        <p:nvPicPr>
          <p:cNvPr id="220" name="Google Shape;220;p11" title="syntehsis.mp4">
            <a:hlinkClick r:id="rId3"/>
          </p:cNvPr>
          <p:cNvPicPr preferRelativeResize="0"/>
          <p:nvPr/>
        </p:nvPicPr>
        <p:blipFill>
          <a:blip r:embed="rId4">
            <a:alphaModFix/>
          </a:blip>
          <a:stretch>
            <a:fillRect/>
          </a:stretch>
        </p:blipFill>
        <p:spPr>
          <a:xfrm>
            <a:off x="6291075" y="1847100"/>
            <a:ext cx="5375494" cy="3023726"/>
          </a:xfrm>
          <a:prstGeom prst="rect">
            <a:avLst/>
          </a:prstGeom>
          <a:noFill/>
          <a:ln>
            <a:noFill/>
          </a:ln>
        </p:spPr>
      </p:pic>
      <p:pic>
        <p:nvPicPr>
          <p:cNvPr id="221" name="Google Shape;221;p11" title="IMG_6413.MOV">
            <a:hlinkClick r:id="rId5"/>
          </p:cNvPr>
          <p:cNvPicPr preferRelativeResize="0"/>
          <p:nvPr/>
        </p:nvPicPr>
        <p:blipFill>
          <a:blip r:embed="rId6">
            <a:alphaModFix/>
          </a:blip>
          <a:stretch>
            <a:fillRect/>
          </a:stretch>
        </p:blipFill>
        <p:spPr>
          <a:xfrm>
            <a:off x="658375" y="1847100"/>
            <a:ext cx="5375501" cy="3023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12"/>
          <p:cNvSpPr/>
          <p:nvPr/>
        </p:nvSpPr>
        <p:spPr>
          <a:xfrm>
            <a:off x="685800" y="38100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050">
                <a:solidFill>
                  <a:srgbClr val="3D8DFF"/>
                </a:solidFill>
              </a:rPr>
              <a:t>IMPLICATIONS</a:t>
            </a:r>
            <a:endParaRPr/>
          </a:p>
        </p:txBody>
      </p:sp>
      <p:sp>
        <p:nvSpPr>
          <p:cNvPr id="228" name="Google Shape;228;p12"/>
          <p:cNvSpPr/>
          <p:nvPr/>
        </p:nvSpPr>
        <p:spPr>
          <a:xfrm>
            <a:off x="685800" y="685800"/>
            <a:ext cx="108204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650">
                <a:solidFill>
                  <a:srgbClr val="111318"/>
                </a:solidFill>
              </a:rPr>
              <a:t>The remaining failures were often contact-state estimation failures</a:t>
            </a:r>
            <a:endParaRPr sz="1200"/>
          </a:p>
        </p:txBody>
      </p:sp>
      <p:cxnSp>
        <p:nvCxnSpPr>
          <p:cNvPr id="229" name="Google Shape;229;p12"/>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sp>
        <p:nvSpPr>
          <p:cNvPr id="230" name="Google Shape;230;p12"/>
          <p:cNvSpPr/>
          <p:nvPr/>
        </p:nvSpPr>
        <p:spPr>
          <a:xfrm>
            <a:off x="5095875" y="1762125"/>
            <a:ext cx="2952900" cy="60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25">
                <a:solidFill>
                  <a:srgbClr val="111318"/>
                </a:solidFill>
              </a:rPr>
              <a:t>(a) Vision + proprioception</a:t>
            </a:r>
            <a:endParaRPr/>
          </a:p>
        </p:txBody>
      </p:sp>
      <p:sp>
        <p:nvSpPr>
          <p:cNvPr id="231" name="Google Shape;231;p12"/>
          <p:cNvSpPr/>
          <p:nvPr/>
        </p:nvSpPr>
        <p:spPr>
          <a:xfrm>
            <a:off x="5095875" y="2476500"/>
            <a:ext cx="2905200" cy="10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50">
                <a:solidFill>
                  <a:srgbClr val="5E6470"/>
                </a:solidFill>
              </a:rPr>
              <a:t>Provided scene geometry and robot configuration</a:t>
            </a:r>
            <a:r>
              <a:rPr lang="en-US" sz="1350">
                <a:solidFill>
                  <a:srgbClr val="5E6470"/>
                </a:solidFill>
              </a:rPr>
              <a:t> </a:t>
            </a:r>
            <a:r>
              <a:rPr b="0" i="0" lang="en-US" sz="1350">
                <a:solidFill>
                  <a:srgbClr val="5E6470"/>
                </a:solidFill>
              </a:rPr>
              <a:t>but not direct evidence of contact, force, slip, or successful penetration.</a:t>
            </a:r>
            <a:endParaRPr/>
          </a:p>
        </p:txBody>
      </p:sp>
      <p:sp>
        <p:nvSpPr>
          <p:cNvPr id="232" name="Google Shape;232;p12"/>
          <p:cNvSpPr/>
          <p:nvPr/>
        </p:nvSpPr>
        <p:spPr>
          <a:xfrm>
            <a:off x="8524875" y="1762125"/>
            <a:ext cx="24765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00">
                <a:solidFill>
                  <a:srgbClr val="3D8DFF"/>
                </a:solidFill>
              </a:rPr>
              <a:t>(b) Add tactile sensing</a:t>
            </a:r>
            <a:endParaRPr/>
          </a:p>
        </p:txBody>
      </p:sp>
      <p:sp>
        <p:nvSpPr>
          <p:cNvPr id="233" name="Google Shape;233;p12"/>
          <p:cNvSpPr/>
          <p:nvPr/>
        </p:nvSpPr>
        <p:spPr>
          <a:xfrm>
            <a:off x="8524875" y="2428875"/>
            <a:ext cx="2714700" cy="10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350">
                <a:solidFill>
                  <a:srgbClr val="5E6470"/>
                </a:solidFill>
              </a:rPr>
              <a:t>Could reveal contact onset, pressure distribution, slip, and the transition from touching the septum to entering it.</a:t>
            </a:r>
            <a:endParaRPr/>
          </a:p>
        </p:txBody>
      </p:sp>
      <p:cxnSp>
        <p:nvCxnSpPr>
          <p:cNvPr id="234" name="Google Shape;234;p12"/>
          <p:cNvCxnSpPr/>
          <p:nvPr/>
        </p:nvCxnSpPr>
        <p:spPr>
          <a:xfrm>
            <a:off x="8143875" y="1666875"/>
            <a:ext cx="0" cy="1714500"/>
          </a:xfrm>
          <a:prstGeom prst="straightConnector1">
            <a:avLst/>
          </a:prstGeom>
          <a:noFill/>
          <a:ln cap="flat" cmpd="sng" w="9525">
            <a:solidFill>
              <a:srgbClr val="B8BCC4"/>
            </a:solidFill>
            <a:prstDash val="solid"/>
            <a:round/>
            <a:headEnd len="sm" w="sm" type="none"/>
            <a:tailEnd len="sm" w="sm" type="none"/>
          </a:ln>
        </p:spPr>
      </p:cxnSp>
      <p:sp>
        <p:nvSpPr>
          <p:cNvPr id="235" name="Google Shape;235;p12"/>
          <p:cNvSpPr/>
          <p:nvPr/>
        </p:nvSpPr>
        <p:spPr>
          <a:xfrm>
            <a:off x="5072063" y="4173225"/>
            <a:ext cx="6143700" cy="1524000"/>
          </a:xfrm>
          <a:prstGeom prst="rect">
            <a:avLst/>
          </a:prstGeom>
          <a:solidFill>
            <a:srgbClr val="DDF3FC"/>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2"/>
          <p:cNvSpPr/>
          <p:nvPr/>
        </p:nvSpPr>
        <p:spPr>
          <a:xfrm>
            <a:off x="5334000" y="4278000"/>
            <a:ext cx="19050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425">
                <a:solidFill>
                  <a:srgbClr val="3D8DFF"/>
                </a:solidFill>
              </a:rPr>
              <a:t>Central takeaway</a:t>
            </a:r>
            <a:endParaRPr/>
          </a:p>
        </p:txBody>
      </p:sp>
      <p:sp>
        <p:nvSpPr>
          <p:cNvPr id="237" name="Google Shape;237;p12"/>
          <p:cNvSpPr/>
          <p:nvPr/>
        </p:nvSpPr>
        <p:spPr>
          <a:xfrm>
            <a:off x="5334000" y="4659000"/>
            <a:ext cx="5572200" cy="74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i="0" lang="en-US" sz="1500">
                <a:solidFill>
                  <a:srgbClr val="111318"/>
                </a:solidFill>
              </a:rPr>
              <a:t>Reliable manipulation emerged from aligning task semantics, data quality, temporal context, physical design, and deployment</a:t>
            </a:r>
            <a:r>
              <a:rPr b="1" lang="en-US" sz="1500">
                <a:solidFill>
                  <a:srgbClr val="111318"/>
                </a:solidFill>
              </a:rPr>
              <a:t> and </a:t>
            </a:r>
            <a:r>
              <a:rPr b="1" i="0" lang="en-US" sz="1500">
                <a:solidFill>
                  <a:srgbClr val="111318"/>
                </a:solidFill>
              </a:rPr>
              <a:t>not from model scaling alone.</a:t>
            </a:r>
            <a:endParaRPr/>
          </a:p>
        </p:txBody>
      </p:sp>
      <p:pic>
        <p:nvPicPr>
          <p:cNvPr id="238" name="Google Shape;238;p12" title="IMG_6508.HEIC"/>
          <p:cNvPicPr preferRelativeResize="0"/>
          <p:nvPr/>
        </p:nvPicPr>
        <p:blipFill rotWithShape="1">
          <a:blip r:embed="rId3">
            <a:alphaModFix/>
          </a:blip>
          <a:srcRect b="0" l="0" r="0" t="24168"/>
          <a:stretch/>
        </p:blipFill>
        <p:spPr>
          <a:xfrm>
            <a:off x="692950" y="1666875"/>
            <a:ext cx="3986200" cy="40303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13"/>
          <p:cNvSpPr/>
          <p:nvPr/>
        </p:nvSpPr>
        <p:spPr>
          <a:xfrm>
            <a:off x="6286500" y="0"/>
            <a:ext cx="457200" cy="6858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245" name="Google Shape;245;p13"/>
          <p:cNvSpPr/>
          <p:nvPr/>
        </p:nvSpPr>
        <p:spPr>
          <a:xfrm>
            <a:off x="685800" y="1155025"/>
            <a:ext cx="5334000" cy="200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3700"/>
              <a:buFont typeface="Arial"/>
              <a:buNone/>
            </a:pPr>
            <a:r>
              <a:rPr b="1" i="0" lang="en-US" sz="3700">
                <a:solidFill>
                  <a:srgbClr val="111318"/>
                </a:solidFill>
              </a:rPr>
              <a:t>Hierarchical planning for multi-agent collective construction</a:t>
            </a:r>
            <a:endParaRPr sz="1200"/>
          </a:p>
        </p:txBody>
      </p:sp>
      <p:sp>
        <p:nvSpPr>
          <p:cNvPr id="246" name="Google Shape;246;p13"/>
          <p:cNvSpPr/>
          <p:nvPr/>
        </p:nvSpPr>
        <p:spPr>
          <a:xfrm>
            <a:off x="685800" y="3124200"/>
            <a:ext cx="4624500" cy="60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200"/>
              <a:buFont typeface="Arial"/>
              <a:buNone/>
            </a:pPr>
            <a:r>
              <a:t/>
            </a:r>
            <a:endParaRPr sz="1200"/>
          </a:p>
        </p:txBody>
      </p:sp>
      <p:cxnSp>
        <p:nvCxnSpPr>
          <p:cNvPr id="247" name="Google Shape;247;p13"/>
          <p:cNvCxnSpPr/>
          <p:nvPr/>
        </p:nvCxnSpPr>
        <p:spPr>
          <a:xfrm>
            <a:off x="685800" y="4762500"/>
            <a:ext cx="4457700" cy="0"/>
          </a:xfrm>
          <a:prstGeom prst="straightConnector1">
            <a:avLst/>
          </a:prstGeom>
          <a:noFill/>
          <a:ln cap="flat" cmpd="sng" w="9525">
            <a:solidFill>
              <a:srgbClr val="B8BCC4"/>
            </a:solidFill>
            <a:prstDash val="solid"/>
            <a:round/>
            <a:headEnd len="sm" w="sm" type="none"/>
            <a:tailEnd len="sm" w="sm" type="none"/>
          </a:ln>
        </p:spPr>
      </p:cxnSp>
      <p:sp>
        <p:nvSpPr>
          <p:cNvPr id="248" name="Google Shape;248;p13"/>
          <p:cNvSpPr/>
          <p:nvPr/>
        </p:nvSpPr>
        <p:spPr>
          <a:xfrm>
            <a:off x="685800" y="5000625"/>
            <a:ext cx="495300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350"/>
              <a:buFont typeface="Arial"/>
              <a:buNone/>
            </a:pPr>
            <a:r>
              <a:rPr b="0" i="0" lang="en-US" sz="1350">
                <a:solidFill>
                  <a:srgbClr val="111318"/>
                </a:solidFill>
              </a:rPr>
              <a:t>Smrithi Lokesh</a:t>
            </a:r>
            <a:endParaRPr sz="1800"/>
          </a:p>
          <a:p>
            <a:pPr indent="0" lvl="0" marL="0" marR="0" rtl="0" algn="l">
              <a:spcBef>
                <a:spcPts val="0"/>
              </a:spcBef>
              <a:spcAft>
                <a:spcPts val="0"/>
              </a:spcAft>
              <a:buClr>
                <a:srgbClr val="111318"/>
              </a:buClr>
              <a:buSzPts val="1350"/>
              <a:buFont typeface="Arial"/>
              <a:buNone/>
            </a:pPr>
            <a:r>
              <a:rPr b="0" i="0" lang="en-US" sz="1350">
                <a:solidFill>
                  <a:srgbClr val="111318"/>
                </a:solidFill>
              </a:rPr>
              <a:t>Biorobotics Lab · Carnegie Mellon University</a:t>
            </a:r>
            <a:endParaRPr sz="1800"/>
          </a:p>
        </p:txBody>
      </p:sp>
      <p:sp>
        <p:nvSpPr>
          <p:cNvPr id="249" name="Google Shape;249;p13"/>
          <p:cNvSpPr/>
          <p:nvPr/>
        </p:nvSpPr>
        <p:spPr>
          <a:xfrm>
            <a:off x="7010400" y="6267450"/>
            <a:ext cx="4476750" cy="2667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FFFFFF"/>
              </a:buClr>
              <a:buSzPts val="1050"/>
              <a:buFont typeface="Arial"/>
              <a:buNone/>
            </a:pPr>
            <a:r>
              <a:rPr b="1" i="0" lang="en-US" sz="1050">
                <a:solidFill>
                  <a:srgbClr val="FFFFFF"/>
                </a:solidFill>
              </a:rPr>
              <a:t>July 2024 – January 2025 · Prof. Howie Choset</a:t>
            </a:r>
            <a:endParaRPr sz="1800"/>
          </a:p>
        </p:txBody>
      </p:sp>
      <p:pic>
        <p:nvPicPr>
          <p:cNvPr id="250" name="Google Shape;250;p13"/>
          <p:cNvPicPr preferRelativeResize="0"/>
          <p:nvPr/>
        </p:nvPicPr>
        <p:blipFill rotWithShape="1">
          <a:blip r:embed="rId3">
            <a:alphaModFix/>
          </a:blip>
          <a:srcRect b="0" l="0" r="0" t="0"/>
          <a:stretch/>
        </p:blipFill>
        <p:spPr>
          <a:xfrm>
            <a:off x="6530900" y="1164694"/>
            <a:ext cx="4476750" cy="4657449"/>
          </a:xfrm>
          <a:prstGeom prst="rect">
            <a:avLst/>
          </a:prstGeom>
          <a:noFill/>
          <a:ln>
            <a:noFill/>
          </a:ln>
        </p:spPr>
      </p:pic>
      <p:pic>
        <p:nvPicPr>
          <p:cNvPr id="251" name="Google Shape;251;p13"/>
          <p:cNvPicPr preferRelativeResize="0"/>
          <p:nvPr/>
        </p:nvPicPr>
        <p:blipFill rotWithShape="1">
          <a:blip r:embed="rId4">
            <a:alphaModFix/>
          </a:blip>
          <a:srcRect b="0" l="0" r="0" t="0"/>
          <a:stretch/>
        </p:blipFill>
        <p:spPr>
          <a:xfrm>
            <a:off x="-25" y="90326"/>
            <a:ext cx="489505" cy="479715"/>
          </a:xfrm>
          <a:prstGeom prst="rect">
            <a:avLst/>
          </a:prstGeom>
          <a:noFill/>
          <a:ln>
            <a:noFill/>
          </a:ln>
        </p:spPr>
      </p:pic>
      <p:pic>
        <p:nvPicPr>
          <p:cNvPr id="252" name="Google Shape;252;p13"/>
          <p:cNvPicPr preferRelativeResize="0"/>
          <p:nvPr/>
        </p:nvPicPr>
        <p:blipFill rotWithShape="1">
          <a:blip r:embed="rId5">
            <a:alphaModFix/>
          </a:blip>
          <a:srcRect b="0" l="0" r="0" t="0"/>
          <a:stretch/>
        </p:blipFill>
        <p:spPr>
          <a:xfrm>
            <a:off x="533581" y="83863"/>
            <a:ext cx="489501" cy="489501"/>
          </a:xfrm>
          <a:prstGeom prst="rect">
            <a:avLst/>
          </a:prstGeom>
          <a:noFill/>
          <a:ln>
            <a:noFill/>
          </a:ln>
        </p:spPr>
      </p:pic>
      <p:pic>
        <p:nvPicPr>
          <p:cNvPr id="253" name="Google Shape;253;p13"/>
          <p:cNvPicPr preferRelativeResize="0"/>
          <p:nvPr/>
        </p:nvPicPr>
        <p:blipFill rotWithShape="1">
          <a:blip r:embed="rId6">
            <a:alphaModFix/>
          </a:blip>
          <a:srcRect b="0" l="0" r="0" t="0"/>
          <a:stretch/>
        </p:blipFill>
        <p:spPr>
          <a:xfrm>
            <a:off x="9214575" y="84771"/>
            <a:ext cx="505679" cy="505679"/>
          </a:xfrm>
          <a:prstGeom prst="rect">
            <a:avLst/>
          </a:prstGeom>
          <a:noFill/>
          <a:ln>
            <a:noFill/>
          </a:ln>
        </p:spPr>
      </p:pic>
      <p:pic>
        <p:nvPicPr>
          <p:cNvPr id="254" name="Google Shape;254;p13"/>
          <p:cNvPicPr preferRelativeResize="0"/>
          <p:nvPr/>
        </p:nvPicPr>
        <p:blipFill rotWithShape="1">
          <a:blip r:embed="rId7">
            <a:alphaModFix/>
          </a:blip>
          <a:srcRect b="10827" l="12417" r="12694" t="13087"/>
          <a:stretch/>
        </p:blipFill>
        <p:spPr>
          <a:xfrm>
            <a:off x="9790495" y="75772"/>
            <a:ext cx="505683" cy="505683"/>
          </a:xfrm>
          <a:prstGeom prst="rect">
            <a:avLst/>
          </a:prstGeom>
          <a:noFill/>
          <a:ln>
            <a:noFill/>
          </a:ln>
        </p:spPr>
      </p:pic>
      <p:pic>
        <p:nvPicPr>
          <p:cNvPr id="255" name="Google Shape;255;p13"/>
          <p:cNvPicPr preferRelativeResize="0"/>
          <p:nvPr/>
        </p:nvPicPr>
        <p:blipFill rotWithShape="1">
          <a:blip r:embed="rId8">
            <a:alphaModFix/>
          </a:blip>
          <a:srcRect b="14108" l="11687" r="11022" t="14166"/>
          <a:stretch/>
        </p:blipFill>
        <p:spPr>
          <a:xfrm>
            <a:off x="10387351" y="133103"/>
            <a:ext cx="539020" cy="409005"/>
          </a:xfrm>
          <a:prstGeom prst="rect">
            <a:avLst/>
          </a:prstGeom>
          <a:noFill/>
          <a:ln>
            <a:noFill/>
          </a:ln>
        </p:spPr>
      </p:pic>
      <p:pic>
        <p:nvPicPr>
          <p:cNvPr id="256" name="Google Shape;256;p13"/>
          <p:cNvPicPr preferRelativeResize="0"/>
          <p:nvPr/>
        </p:nvPicPr>
        <p:blipFill rotWithShape="1">
          <a:blip r:embed="rId9">
            <a:alphaModFix/>
          </a:blip>
          <a:srcRect b="0" l="0" r="0" t="0"/>
          <a:stretch/>
        </p:blipFill>
        <p:spPr>
          <a:xfrm>
            <a:off x="10988989" y="124113"/>
            <a:ext cx="1202985" cy="40901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 name="Shape 261"/>
        <p:cNvGrpSpPr/>
        <p:nvPr/>
      </p:nvGrpSpPr>
      <p:grpSpPr>
        <a:xfrm>
          <a:off x="0" y="0"/>
          <a:ext cx="0" cy="0"/>
          <a:chOff x="0" y="0"/>
          <a:chExt cx="0" cy="0"/>
        </a:xfrm>
      </p:grpSpPr>
      <p:sp>
        <p:nvSpPr>
          <p:cNvPr id="262" name="Google Shape;262;p14"/>
          <p:cNvSpPr/>
          <p:nvPr/>
        </p:nvSpPr>
        <p:spPr>
          <a:xfrm>
            <a:off x="685800" y="38100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HIERARCHICAL PLANNER</a:t>
            </a:r>
            <a:endParaRPr sz="1800"/>
          </a:p>
        </p:txBody>
      </p:sp>
      <p:sp>
        <p:nvSpPr>
          <p:cNvPr id="263" name="Google Shape;263;p14"/>
          <p:cNvSpPr/>
          <p:nvPr/>
        </p:nvSpPr>
        <p:spPr>
          <a:xfrm>
            <a:off x="685800" y="685800"/>
            <a:ext cx="108204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950"/>
              <a:buFont typeface="Arial"/>
              <a:buNone/>
            </a:pPr>
            <a:r>
              <a:rPr b="1" lang="en-US" sz="2350">
                <a:solidFill>
                  <a:srgbClr val="111318"/>
                </a:solidFill>
              </a:rPr>
              <a:t>From a structure goal to an executable, collision-free multi-robot schedule</a:t>
            </a:r>
            <a:endParaRPr sz="900"/>
          </a:p>
        </p:txBody>
      </p:sp>
      <p:cxnSp>
        <p:nvCxnSpPr>
          <p:cNvPr id="264" name="Google Shape;264;p14"/>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pic>
        <p:nvPicPr>
          <p:cNvPr id="265" name="Google Shape;265;p14"/>
          <p:cNvPicPr preferRelativeResize="0"/>
          <p:nvPr/>
        </p:nvPicPr>
        <p:blipFill rotWithShape="1">
          <a:blip r:embed="rId3">
            <a:alphaModFix/>
          </a:blip>
          <a:srcRect b="0" l="0" r="0" t="0"/>
          <a:stretch/>
        </p:blipFill>
        <p:spPr>
          <a:xfrm>
            <a:off x="660001" y="1435608"/>
            <a:ext cx="4248693" cy="4745735"/>
          </a:xfrm>
          <a:prstGeom prst="rect">
            <a:avLst/>
          </a:prstGeom>
          <a:noFill/>
          <a:ln>
            <a:noFill/>
          </a:ln>
        </p:spPr>
      </p:pic>
      <p:sp>
        <p:nvSpPr>
          <p:cNvPr id="266" name="Google Shape;266;p14"/>
          <p:cNvSpPr/>
          <p:nvPr/>
        </p:nvSpPr>
        <p:spPr>
          <a:xfrm>
            <a:off x="5193792" y="1572768"/>
            <a:ext cx="5898000" cy="1024200"/>
          </a:xfrm>
          <a:prstGeom prst="roundRect">
            <a:avLst>
              <a:gd fmla="val 16667" name="adj"/>
            </a:avLst>
          </a:prstGeom>
          <a:solidFill>
            <a:srgbClr val="F2F7FC"/>
          </a:solidFill>
          <a:ln cap="flat" cmpd="sng" w="12700">
            <a:solidFill>
              <a:srgbClr val="D1D9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SzPts val="1800"/>
              <a:buFont typeface="Arial"/>
              <a:buNone/>
            </a:pPr>
            <a:r>
              <a:t/>
            </a:r>
            <a:endParaRPr sz="1800"/>
          </a:p>
        </p:txBody>
      </p:sp>
      <p:sp>
        <p:nvSpPr>
          <p:cNvPr id="267" name="Google Shape;267;p14"/>
          <p:cNvSpPr/>
          <p:nvPr/>
        </p:nvSpPr>
        <p:spPr>
          <a:xfrm>
            <a:off x="5440680" y="1755648"/>
            <a:ext cx="1600200" cy="6402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1A7AE5"/>
              </a:buClr>
              <a:buSzPts val="1300"/>
              <a:buFont typeface="Arial"/>
              <a:buNone/>
            </a:pPr>
            <a:r>
              <a:rPr b="1" lang="en-US" sz="1300">
                <a:solidFill>
                  <a:srgbClr val="1A7AE5"/>
                </a:solidFill>
              </a:rPr>
              <a:t>1  High-level A*</a:t>
            </a:r>
            <a:endParaRPr b="1" sz="1300">
              <a:solidFill>
                <a:srgbClr val="1A7AE5"/>
              </a:solidFill>
            </a:endParaRPr>
          </a:p>
        </p:txBody>
      </p:sp>
      <p:sp>
        <p:nvSpPr>
          <p:cNvPr id="268" name="Google Shape;268;p14"/>
          <p:cNvSpPr/>
          <p:nvPr/>
        </p:nvSpPr>
        <p:spPr>
          <a:xfrm>
            <a:off x="7178040" y="1737360"/>
            <a:ext cx="3612000" cy="685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303840"/>
              </a:buClr>
              <a:buSzPts val="1200"/>
              <a:buFont typeface="Arial"/>
              <a:buNone/>
            </a:pPr>
            <a:r>
              <a:rPr lang="en-US" sz="1200">
                <a:solidFill>
                  <a:srgbClr val="303840"/>
                </a:solidFill>
              </a:rPr>
              <a:t>Sequences block placements and removals while enforcing structural validity.</a:t>
            </a:r>
            <a:endParaRPr sz="1200">
              <a:solidFill>
                <a:srgbClr val="303840"/>
              </a:solidFill>
            </a:endParaRPr>
          </a:p>
        </p:txBody>
      </p:sp>
      <p:sp>
        <p:nvSpPr>
          <p:cNvPr id="269" name="Google Shape;269;p14"/>
          <p:cNvSpPr/>
          <p:nvPr/>
        </p:nvSpPr>
        <p:spPr>
          <a:xfrm>
            <a:off x="5193792" y="2788920"/>
            <a:ext cx="5898000" cy="1024200"/>
          </a:xfrm>
          <a:prstGeom prst="roundRect">
            <a:avLst>
              <a:gd fmla="val 16667" name="adj"/>
            </a:avLst>
          </a:prstGeom>
          <a:solidFill>
            <a:srgbClr val="EBF7FF"/>
          </a:solidFill>
          <a:ln cap="flat" cmpd="sng" w="12700">
            <a:solidFill>
              <a:srgbClr val="D1D9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SzPts val="1800"/>
              <a:buFont typeface="Arial"/>
              <a:buNone/>
            </a:pPr>
            <a:r>
              <a:t/>
            </a:r>
            <a:endParaRPr sz="1800"/>
          </a:p>
        </p:txBody>
      </p:sp>
      <p:sp>
        <p:nvSpPr>
          <p:cNvPr id="270" name="Google Shape;270;p14"/>
          <p:cNvSpPr/>
          <p:nvPr/>
        </p:nvSpPr>
        <p:spPr>
          <a:xfrm>
            <a:off x="5440680" y="2971800"/>
            <a:ext cx="1600200" cy="6402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1A7AE5"/>
              </a:buClr>
              <a:buSzPts val="1300"/>
              <a:buFont typeface="Arial"/>
              <a:buNone/>
            </a:pPr>
            <a:r>
              <a:rPr b="1" lang="en-US" sz="1300">
                <a:solidFill>
                  <a:srgbClr val="1A7AE5"/>
                </a:solidFill>
              </a:rPr>
              <a:t>2  Interface / ADG</a:t>
            </a:r>
            <a:endParaRPr b="1" sz="1300">
              <a:solidFill>
                <a:srgbClr val="1A7AE5"/>
              </a:solidFill>
            </a:endParaRPr>
          </a:p>
        </p:txBody>
      </p:sp>
      <p:sp>
        <p:nvSpPr>
          <p:cNvPr id="271" name="Google Shape;271;p14"/>
          <p:cNvSpPr/>
          <p:nvPr/>
        </p:nvSpPr>
        <p:spPr>
          <a:xfrm>
            <a:off x="7178040" y="2953512"/>
            <a:ext cx="3612000" cy="685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303840"/>
              </a:buClr>
              <a:buSzPts val="1200"/>
              <a:buFont typeface="Arial"/>
              <a:buNone/>
            </a:pPr>
            <a:r>
              <a:rPr lang="en-US" sz="1200">
                <a:solidFill>
                  <a:srgbClr val="303840"/>
                </a:solidFill>
              </a:rPr>
              <a:t>Adds support, access, and temporal precedence; independent actions remain parallel.</a:t>
            </a:r>
            <a:endParaRPr sz="1200">
              <a:solidFill>
                <a:srgbClr val="303840"/>
              </a:solidFill>
            </a:endParaRPr>
          </a:p>
        </p:txBody>
      </p:sp>
      <p:sp>
        <p:nvSpPr>
          <p:cNvPr id="272" name="Google Shape;272;p14"/>
          <p:cNvSpPr/>
          <p:nvPr/>
        </p:nvSpPr>
        <p:spPr>
          <a:xfrm>
            <a:off x="5193792" y="4005072"/>
            <a:ext cx="5898000" cy="1024200"/>
          </a:xfrm>
          <a:prstGeom prst="roundRect">
            <a:avLst>
              <a:gd fmla="val 16667" name="adj"/>
            </a:avLst>
          </a:prstGeom>
          <a:solidFill>
            <a:srgbClr val="F2F7FC"/>
          </a:solidFill>
          <a:ln cap="flat" cmpd="sng" w="12700">
            <a:solidFill>
              <a:srgbClr val="D1D9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SzPts val="1800"/>
              <a:buFont typeface="Arial"/>
              <a:buNone/>
            </a:pPr>
            <a:r>
              <a:t/>
            </a:r>
            <a:endParaRPr sz="1800"/>
          </a:p>
        </p:txBody>
      </p:sp>
      <p:sp>
        <p:nvSpPr>
          <p:cNvPr id="273" name="Google Shape;273;p14"/>
          <p:cNvSpPr/>
          <p:nvPr/>
        </p:nvSpPr>
        <p:spPr>
          <a:xfrm>
            <a:off x="5440680" y="4187952"/>
            <a:ext cx="1600200" cy="6402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1A7AE5"/>
              </a:buClr>
              <a:buSzPts val="1300"/>
              <a:buFont typeface="Arial"/>
              <a:buNone/>
            </a:pPr>
            <a:r>
              <a:rPr b="1" lang="en-US" sz="1300">
                <a:solidFill>
                  <a:srgbClr val="1A7AE5"/>
                </a:solidFill>
              </a:rPr>
              <a:t>3  Allocation + CBS</a:t>
            </a:r>
            <a:endParaRPr b="1" sz="1300">
              <a:solidFill>
                <a:srgbClr val="1A7AE5"/>
              </a:solidFill>
            </a:endParaRPr>
          </a:p>
        </p:txBody>
      </p:sp>
      <p:sp>
        <p:nvSpPr>
          <p:cNvPr id="274" name="Google Shape;274;p14"/>
          <p:cNvSpPr/>
          <p:nvPr/>
        </p:nvSpPr>
        <p:spPr>
          <a:xfrm>
            <a:off x="7178040" y="4169664"/>
            <a:ext cx="3612000" cy="685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303840"/>
              </a:buClr>
              <a:buSzPts val="1200"/>
              <a:buFont typeface="Arial"/>
              <a:buNone/>
            </a:pPr>
            <a:r>
              <a:rPr lang="en-US" sz="1200">
                <a:solidFill>
                  <a:srgbClr val="303840"/>
                </a:solidFill>
              </a:rPr>
              <a:t>Assigns actions to robots and resolves robot, block, and carried-load conflicts.</a:t>
            </a:r>
            <a:endParaRPr sz="1200">
              <a:solidFill>
                <a:srgbClr val="303840"/>
              </a:solidFill>
            </a:endParaRPr>
          </a:p>
        </p:txBody>
      </p:sp>
      <p:sp>
        <p:nvSpPr>
          <p:cNvPr id="275" name="Google Shape;275;p14"/>
          <p:cNvSpPr/>
          <p:nvPr/>
        </p:nvSpPr>
        <p:spPr>
          <a:xfrm>
            <a:off x="5193792" y="5358384"/>
            <a:ext cx="5898000" cy="713100"/>
          </a:xfrm>
          <a:prstGeom prst="rect">
            <a:avLst/>
          </a:prstGeom>
          <a:solidFill>
            <a:srgbClr val="E0F5FF"/>
          </a:solidFill>
          <a:ln>
            <a:noFill/>
          </a:ln>
        </p:spPr>
        <p:txBody>
          <a:bodyPr anchorCtr="0" anchor="ctr" bIns="91425" lIns="91425" spcFirstLastPara="1" rIns="91425" wrap="square" tIns="91425">
            <a:noAutofit/>
          </a:bodyPr>
          <a:lstStyle/>
          <a:p>
            <a:pPr indent="0" lvl="0" marL="0" marR="0" rtl="0" algn="ctr">
              <a:spcBef>
                <a:spcPts val="0"/>
              </a:spcBef>
              <a:spcAft>
                <a:spcPts val="0"/>
              </a:spcAft>
              <a:buSzPts val="1800"/>
              <a:buFont typeface="Arial"/>
              <a:buNone/>
            </a:pPr>
            <a:r>
              <a:t/>
            </a:r>
            <a:endParaRPr sz="1800"/>
          </a:p>
        </p:txBody>
      </p:sp>
      <p:sp>
        <p:nvSpPr>
          <p:cNvPr id="276" name="Google Shape;276;p14"/>
          <p:cNvSpPr/>
          <p:nvPr/>
        </p:nvSpPr>
        <p:spPr>
          <a:xfrm>
            <a:off x="5422392" y="5504688"/>
            <a:ext cx="5440800" cy="4389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1461B8"/>
              </a:buClr>
              <a:buSzPts val="1200"/>
              <a:buFont typeface="Arial"/>
              <a:buNone/>
            </a:pPr>
            <a:r>
              <a:rPr b="1" lang="en-US" sz="1200">
                <a:solidFill>
                  <a:srgbClr val="1461B8"/>
                </a:solidFill>
              </a:rPr>
              <a:t>Flat-surface assumption: robots traverse the partial structure or scaffolding from a boundary depot; every action preserves support and a return path.</a:t>
            </a:r>
            <a:endParaRPr b="1" sz="1200">
              <a:solidFill>
                <a:srgbClr val="1461B8"/>
              </a:solidFill>
            </a:endParaRPr>
          </a:p>
        </p:txBody>
      </p:sp>
      <p:pic>
        <p:nvPicPr>
          <p:cNvPr id="277" name="Google Shape;277;p14"/>
          <p:cNvPicPr preferRelativeResize="0"/>
          <p:nvPr/>
        </p:nvPicPr>
        <p:blipFill rotWithShape="1">
          <a:blip r:embed="rId4">
            <a:alphaModFix/>
          </a:blip>
          <a:srcRect b="0" l="0" r="0" t="0"/>
          <a:stretch/>
        </p:blipFill>
        <p:spPr>
          <a:xfrm>
            <a:off x="-25" y="90326"/>
            <a:ext cx="489505" cy="479715"/>
          </a:xfrm>
          <a:prstGeom prst="rect">
            <a:avLst/>
          </a:prstGeom>
          <a:noFill/>
          <a:ln>
            <a:noFill/>
          </a:ln>
        </p:spPr>
      </p:pic>
      <p:pic>
        <p:nvPicPr>
          <p:cNvPr id="278" name="Google Shape;278;p14"/>
          <p:cNvPicPr preferRelativeResize="0"/>
          <p:nvPr/>
        </p:nvPicPr>
        <p:blipFill rotWithShape="1">
          <a:blip r:embed="rId5">
            <a:alphaModFix/>
          </a:blip>
          <a:srcRect b="0" l="0" r="0" t="0"/>
          <a:stretch/>
        </p:blipFill>
        <p:spPr>
          <a:xfrm>
            <a:off x="-19" y="581438"/>
            <a:ext cx="489501" cy="489501"/>
          </a:xfrm>
          <a:prstGeom prst="rect">
            <a:avLst/>
          </a:prstGeom>
          <a:noFill/>
          <a:ln>
            <a:noFill/>
          </a:ln>
        </p:spPr>
      </p:pic>
      <p:pic>
        <p:nvPicPr>
          <p:cNvPr id="279" name="Google Shape;279;p14"/>
          <p:cNvPicPr preferRelativeResize="0"/>
          <p:nvPr/>
        </p:nvPicPr>
        <p:blipFill rotWithShape="1">
          <a:blip r:embed="rId6">
            <a:alphaModFix/>
          </a:blip>
          <a:srcRect b="0" l="0" r="0" t="0"/>
          <a:stretch/>
        </p:blipFill>
        <p:spPr>
          <a:xfrm>
            <a:off x="9214575" y="84771"/>
            <a:ext cx="505679" cy="505679"/>
          </a:xfrm>
          <a:prstGeom prst="rect">
            <a:avLst/>
          </a:prstGeom>
          <a:noFill/>
          <a:ln>
            <a:noFill/>
          </a:ln>
        </p:spPr>
      </p:pic>
      <p:pic>
        <p:nvPicPr>
          <p:cNvPr id="280" name="Google Shape;280;p14"/>
          <p:cNvPicPr preferRelativeResize="0"/>
          <p:nvPr/>
        </p:nvPicPr>
        <p:blipFill rotWithShape="1">
          <a:blip r:embed="rId7">
            <a:alphaModFix/>
          </a:blip>
          <a:srcRect b="10827" l="12417" r="12694" t="13087"/>
          <a:stretch/>
        </p:blipFill>
        <p:spPr>
          <a:xfrm>
            <a:off x="9790495" y="75772"/>
            <a:ext cx="505683" cy="505683"/>
          </a:xfrm>
          <a:prstGeom prst="rect">
            <a:avLst/>
          </a:prstGeom>
          <a:noFill/>
          <a:ln>
            <a:noFill/>
          </a:ln>
        </p:spPr>
      </p:pic>
      <p:pic>
        <p:nvPicPr>
          <p:cNvPr id="281" name="Google Shape;281;p14"/>
          <p:cNvPicPr preferRelativeResize="0"/>
          <p:nvPr/>
        </p:nvPicPr>
        <p:blipFill rotWithShape="1">
          <a:blip r:embed="rId8">
            <a:alphaModFix/>
          </a:blip>
          <a:srcRect b="14108" l="11687" r="11022" t="14166"/>
          <a:stretch/>
        </p:blipFill>
        <p:spPr>
          <a:xfrm>
            <a:off x="10387351" y="133103"/>
            <a:ext cx="539020" cy="409005"/>
          </a:xfrm>
          <a:prstGeom prst="rect">
            <a:avLst/>
          </a:prstGeom>
          <a:noFill/>
          <a:ln>
            <a:noFill/>
          </a:ln>
        </p:spPr>
      </p:pic>
      <p:pic>
        <p:nvPicPr>
          <p:cNvPr id="282" name="Google Shape;282;p14"/>
          <p:cNvPicPr preferRelativeResize="0"/>
          <p:nvPr/>
        </p:nvPicPr>
        <p:blipFill rotWithShape="1">
          <a:blip r:embed="rId9">
            <a:alphaModFix/>
          </a:blip>
          <a:srcRect b="0" l="0" r="0" t="0"/>
          <a:stretch/>
        </p:blipFill>
        <p:spPr>
          <a:xfrm>
            <a:off x="10988989" y="124113"/>
            <a:ext cx="1202985" cy="40901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15"/>
          <p:cNvSpPr/>
          <p:nvPr/>
        </p:nvSpPr>
        <p:spPr>
          <a:xfrm>
            <a:off x="685800" y="38100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SEARCH ENGINEERING</a:t>
            </a:r>
            <a:endParaRPr sz="1050"/>
          </a:p>
        </p:txBody>
      </p:sp>
      <p:cxnSp>
        <p:nvCxnSpPr>
          <p:cNvPr id="289" name="Google Shape;289;p15"/>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sp>
        <p:nvSpPr>
          <p:cNvPr id="290" name="Google Shape;290;p15"/>
          <p:cNvSpPr/>
          <p:nvPr/>
        </p:nvSpPr>
        <p:spPr>
          <a:xfrm>
            <a:off x="685800" y="1666875"/>
            <a:ext cx="40005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2100"/>
              <a:buFont typeface="Arial"/>
              <a:buNone/>
            </a:pPr>
            <a:r>
              <a:rPr lang="en-US" sz="2100"/>
              <a:t>1.  Search-based h(S)</a:t>
            </a:r>
            <a:endParaRPr sz="2100"/>
          </a:p>
        </p:txBody>
      </p:sp>
      <p:sp>
        <p:nvSpPr>
          <p:cNvPr id="291" name="Google Shape;291;p15"/>
          <p:cNvSpPr/>
          <p:nvPr/>
        </p:nvSpPr>
        <p:spPr>
          <a:xfrm>
            <a:off x="661988" y="2163600"/>
            <a:ext cx="4381500" cy="52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500"/>
              <a:buFont typeface="Arial"/>
              <a:buNone/>
            </a:pPr>
            <a:r>
              <a:rPr lang="en-US" sz="1800"/>
              <a:t>For each unreachable goal block, estimate the scaffolding needed to reach a valid placement pose and return to the boundary.</a:t>
            </a:r>
            <a:endParaRPr sz="1800"/>
          </a:p>
        </p:txBody>
      </p:sp>
      <p:sp>
        <p:nvSpPr>
          <p:cNvPr id="292" name="Google Shape;292;p15"/>
          <p:cNvSpPr/>
          <p:nvPr/>
        </p:nvSpPr>
        <p:spPr>
          <a:xfrm>
            <a:off x="685725" y="3336513"/>
            <a:ext cx="4476900" cy="1000200"/>
          </a:xfrm>
          <a:prstGeom prst="rect">
            <a:avLst/>
          </a:prstGeom>
          <a:solidFill>
            <a:srgbClr val="DDF3FC"/>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293" name="Google Shape;293;p15"/>
          <p:cNvSpPr/>
          <p:nvPr/>
        </p:nvSpPr>
        <p:spPr>
          <a:xfrm>
            <a:off x="904800" y="3527013"/>
            <a:ext cx="4048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11318"/>
              </a:buClr>
              <a:buSzPts val="2100"/>
              <a:buFont typeface="Arial"/>
              <a:buNone/>
            </a:pPr>
            <a:r>
              <a:rPr lang="en-US" sz="2100"/>
              <a:t>f(S) = g(S) + h(S)</a:t>
            </a:r>
            <a:endParaRPr sz="2100"/>
          </a:p>
        </p:txBody>
      </p:sp>
      <p:sp>
        <p:nvSpPr>
          <p:cNvPr id="294" name="Google Shape;294;p15"/>
          <p:cNvSpPr/>
          <p:nvPr/>
        </p:nvSpPr>
        <p:spPr>
          <a:xfrm>
            <a:off x="995200" y="3984213"/>
            <a:ext cx="4048200" cy="238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E6470"/>
              </a:buClr>
              <a:buSzPts val="1275"/>
              <a:buFont typeface="Arial"/>
              <a:buNone/>
            </a:pPr>
            <a:r>
              <a:rPr lang="en-US" sz="1275"/>
              <a:t>forward + return scaffolding estimate</a:t>
            </a:r>
            <a:endParaRPr sz="1275"/>
          </a:p>
        </p:txBody>
      </p:sp>
      <p:sp>
        <p:nvSpPr>
          <p:cNvPr id="295" name="Google Shape;295;p15"/>
          <p:cNvSpPr/>
          <p:nvPr/>
        </p:nvSpPr>
        <p:spPr>
          <a:xfrm>
            <a:off x="685800" y="4429125"/>
            <a:ext cx="4476750" cy="4095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800"/>
              <a:buFont typeface="Arial"/>
              <a:buNone/>
            </a:pPr>
            <a:r>
              <a:rPr lang="en-US" sz="1800"/>
              <a:t>More accurate, but slower</a:t>
            </a:r>
            <a:endParaRPr sz="1800"/>
          </a:p>
        </p:txBody>
      </p:sp>
      <p:sp>
        <p:nvSpPr>
          <p:cNvPr id="296" name="Google Shape;296;p15"/>
          <p:cNvSpPr/>
          <p:nvPr/>
        </p:nvSpPr>
        <p:spPr>
          <a:xfrm>
            <a:off x="685800" y="5000625"/>
            <a:ext cx="4333875" cy="619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500"/>
              <a:buFont typeface="Arial"/>
              <a:buNone/>
            </a:pPr>
            <a:r>
              <a:rPr lang="en-US" sz="1800"/>
              <a:t>The executable round-trip estimate improved guidance, but every heuristic call ran multiple reachability searches.</a:t>
            </a:r>
            <a:endParaRPr sz="1800"/>
          </a:p>
        </p:txBody>
      </p:sp>
      <p:sp>
        <p:nvSpPr>
          <p:cNvPr id="297" name="Google Shape;297;p15"/>
          <p:cNvSpPr/>
          <p:nvPr/>
        </p:nvSpPr>
        <p:spPr>
          <a:xfrm>
            <a:off x="6191250" y="1714500"/>
            <a:ext cx="5314950" cy="1000125"/>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298" name="Google Shape;298;p15"/>
          <p:cNvSpPr/>
          <p:nvPr/>
        </p:nvSpPr>
        <p:spPr>
          <a:xfrm>
            <a:off x="6429375" y="1905000"/>
            <a:ext cx="18097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725"/>
              <a:buFont typeface="Arial"/>
              <a:buNone/>
            </a:pPr>
            <a:r>
              <a:rPr lang="en-US" sz="1725"/>
              <a:t>2.  Cache repeated work</a:t>
            </a:r>
            <a:endParaRPr sz="1725"/>
          </a:p>
        </p:txBody>
      </p:sp>
      <p:sp>
        <p:nvSpPr>
          <p:cNvPr id="299" name="Google Shape;299;p15"/>
          <p:cNvSpPr/>
          <p:nvPr/>
        </p:nvSpPr>
        <p:spPr>
          <a:xfrm>
            <a:off x="8334375" y="1785938"/>
            <a:ext cx="28575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275"/>
              <a:buFont typeface="Arial"/>
              <a:buNone/>
            </a:pPr>
            <a:r>
              <a:rPr lang="en-US" sz="1275"/>
              <a:t>Reusable: outgoing costs from the depot. Not reusable: direction-dependent return costs.</a:t>
            </a:r>
            <a:endParaRPr sz="1275"/>
          </a:p>
        </p:txBody>
      </p:sp>
      <p:sp>
        <p:nvSpPr>
          <p:cNvPr id="300" name="Google Shape;300;p15"/>
          <p:cNvSpPr/>
          <p:nvPr/>
        </p:nvSpPr>
        <p:spPr>
          <a:xfrm>
            <a:off x="6191250" y="3000375"/>
            <a:ext cx="5314950" cy="1000125"/>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301" name="Google Shape;301;p15"/>
          <p:cNvSpPr/>
          <p:nvPr/>
        </p:nvSpPr>
        <p:spPr>
          <a:xfrm>
            <a:off x="6429375" y="3190875"/>
            <a:ext cx="18097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725"/>
              <a:buFont typeface="Arial"/>
              <a:buNone/>
            </a:pPr>
            <a:r>
              <a:rPr lang="en-US" sz="1725">
                <a:solidFill>
                  <a:srgbClr val="111318"/>
                </a:solidFill>
              </a:rPr>
              <a:t>3.  Repair consistency</a:t>
            </a:r>
            <a:endParaRPr sz="1725">
              <a:solidFill>
                <a:srgbClr val="111318"/>
              </a:solidFill>
            </a:endParaRPr>
          </a:p>
        </p:txBody>
      </p:sp>
      <p:sp>
        <p:nvSpPr>
          <p:cNvPr id="302" name="Google Shape;302;p15"/>
          <p:cNvSpPr/>
          <p:nvPr/>
        </p:nvSpPr>
        <p:spPr>
          <a:xfrm>
            <a:off x="8334375" y="3162300"/>
            <a:ext cx="285750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275"/>
              <a:buFont typeface="Arial"/>
              <a:buNone/>
            </a:pPr>
            <a:r>
              <a:rPr lang="en-US" sz="1275"/>
              <a:t>Cache outgoing costs only; enqueue cached cells so pre-assigned values do not change exploration order.</a:t>
            </a:r>
            <a:endParaRPr sz="1275"/>
          </a:p>
        </p:txBody>
      </p:sp>
      <p:sp>
        <p:nvSpPr>
          <p:cNvPr id="303" name="Google Shape;303;p15"/>
          <p:cNvSpPr/>
          <p:nvPr/>
        </p:nvSpPr>
        <p:spPr>
          <a:xfrm>
            <a:off x="6191250" y="4286250"/>
            <a:ext cx="5314950" cy="1000125"/>
          </a:xfrm>
          <a:prstGeom prst="rect">
            <a:avLst/>
          </a:prstGeom>
          <a:solidFill>
            <a:srgbClr val="DDF3FC"/>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304" name="Google Shape;304;p15"/>
          <p:cNvSpPr/>
          <p:nvPr/>
        </p:nvSpPr>
        <p:spPr>
          <a:xfrm>
            <a:off x="6429375" y="4476750"/>
            <a:ext cx="18097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725"/>
              <a:buFont typeface="Arial"/>
              <a:buNone/>
            </a:pPr>
            <a:r>
              <a:rPr lang="en-US" sz="1725">
                <a:solidFill>
                  <a:srgbClr val="3D8DFF"/>
                </a:solidFill>
              </a:rPr>
              <a:t>4.  Relax optimality</a:t>
            </a:r>
            <a:endParaRPr sz="1725">
              <a:solidFill>
                <a:srgbClr val="3D8DFF"/>
              </a:solidFill>
            </a:endParaRPr>
          </a:p>
        </p:txBody>
      </p:sp>
      <p:sp>
        <p:nvSpPr>
          <p:cNvPr id="305" name="Google Shape;305;p15"/>
          <p:cNvSpPr/>
          <p:nvPr/>
        </p:nvSpPr>
        <p:spPr>
          <a:xfrm>
            <a:off x="8334375" y="4448175"/>
            <a:ext cx="2857500" cy="666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275"/>
              <a:buFont typeface="Arial"/>
              <a:buNone/>
            </a:pPr>
            <a:r>
              <a:rPr lang="en-US" sz="1275"/>
              <a:t>Weighted A* and ARA* gave only slight gains because heuristic evaluation still dominated runtime.</a:t>
            </a:r>
            <a:endParaRPr sz="1275"/>
          </a:p>
        </p:txBody>
      </p:sp>
      <p:sp>
        <p:nvSpPr>
          <p:cNvPr id="306" name="Google Shape;306;p15"/>
          <p:cNvSpPr/>
          <p:nvPr/>
        </p:nvSpPr>
        <p:spPr>
          <a:xfrm>
            <a:off x="6191250" y="5619750"/>
            <a:ext cx="5314950" cy="5143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350"/>
              <a:buFont typeface="Arial"/>
              <a:buNone/>
            </a:pPr>
            <a:r>
              <a:rPr lang="en-US" sz="1350"/>
              <a:t>Caching helped. Suboptimal search did not remove the heuristic bottleneck.</a:t>
            </a:r>
            <a:endParaRPr sz="1350"/>
          </a:p>
        </p:txBody>
      </p:sp>
      <p:sp>
        <p:nvSpPr>
          <p:cNvPr id="307" name="Google Shape;307;p15"/>
          <p:cNvSpPr/>
          <p:nvPr/>
        </p:nvSpPr>
        <p:spPr>
          <a:xfrm>
            <a:off x="685800" y="685800"/>
            <a:ext cx="108204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2850"/>
              <a:buFont typeface="Arial"/>
              <a:buNone/>
            </a:pPr>
            <a:r>
              <a:rPr b="1" lang="en-US" sz="2850">
                <a:solidFill>
                  <a:srgbClr val="111318"/>
                </a:solidFill>
              </a:rPr>
              <a:t>A better heuristic exposed the cost of search</a:t>
            </a:r>
            <a:endParaRPr sz="1800"/>
          </a:p>
        </p:txBody>
      </p:sp>
      <p:pic>
        <p:nvPicPr>
          <p:cNvPr id="308" name="Google Shape;308;p15"/>
          <p:cNvPicPr preferRelativeResize="0"/>
          <p:nvPr/>
        </p:nvPicPr>
        <p:blipFill rotWithShape="1">
          <a:blip r:embed="rId3">
            <a:alphaModFix/>
          </a:blip>
          <a:srcRect b="0" l="0" r="0" t="0"/>
          <a:stretch/>
        </p:blipFill>
        <p:spPr>
          <a:xfrm>
            <a:off x="-25" y="90326"/>
            <a:ext cx="489505" cy="479715"/>
          </a:xfrm>
          <a:prstGeom prst="rect">
            <a:avLst/>
          </a:prstGeom>
          <a:noFill/>
          <a:ln>
            <a:noFill/>
          </a:ln>
        </p:spPr>
      </p:pic>
      <p:pic>
        <p:nvPicPr>
          <p:cNvPr id="309" name="Google Shape;309;p15"/>
          <p:cNvPicPr preferRelativeResize="0"/>
          <p:nvPr/>
        </p:nvPicPr>
        <p:blipFill rotWithShape="1">
          <a:blip r:embed="rId4">
            <a:alphaModFix/>
          </a:blip>
          <a:srcRect b="0" l="0" r="0" t="0"/>
          <a:stretch/>
        </p:blipFill>
        <p:spPr>
          <a:xfrm>
            <a:off x="9214575" y="84771"/>
            <a:ext cx="505679" cy="505679"/>
          </a:xfrm>
          <a:prstGeom prst="rect">
            <a:avLst/>
          </a:prstGeom>
          <a:noFill/>
          <a:ln>
            <a:noFill/>
          </a:ln>
        </p:spPr>
      </p:pic>
      <p:pic>
        <p:nvPicPr>
          <p:cNvPr id="310" name="Google Shape;310;p15"/>
          <p:cNvPicPr preferRelativeResize="0"/>
          <p:nvPr/>
        </p:nvPicPr>
        <p:blipFill rotWithShape="1">
          <a:blip r:embed="rId5">
            <a:alphaModFix/>
          </a:blip>
          <a:srcRect b="10827" l="12417" r="12694" t="13087"/>
          <a:stretch/>
        </p:blipFill>
        <p:spPr>
          <a:xfrm>
            <a:off x="9790495" y="75772"/>
            <a:ext cx="505683" cy="505683"/>
          </a:xfrm>
          <a:prstGeom prst="rect">
            <a:avLst/>
          </a:prstGeom>
          <a:noFill/>
          <a:ln>
            <a:noFill/>
          </a:ln>
        </p:spPr>
      </p:pic>
      <p:pic>
        <p:nvPicPr>
          <p:cNvPr id="311" name="Google Shape;311;p15"/>
          <p:cNvPicPr preferRelativeResize="0"/>
          <p:nvPr/>
        </p:nvPicPr>
        <p:blipFill rotWithShape="1">
          <a:blip r:embed="rId6">
            <a:alphaModFix/>
          </a:blip>
          <a:srcRect b="14108" l="11687" r="11022" t="14166"/>
          <a:stretch/>
        </p:blipFill>
        <p:spPr>
          <a:xfrm>
            <a:off x="10387351" y="133103"/>
            <a:ext cx="539020" cy="409005"/>
          </a:xfrm>
          <a:prstGeom prst="rect">
            <a:avLst/>
          </a:prstGeom>
          <a:noFill/>
          <a:ln>
            <a:noFill/>
          </a:ln>
        </p:spPr>
      </p:pic>
      <p:pic>
        <p:nvPicPr>
          <p:cNvPr id="312" name="Google Shape;312;p15"/>
          <p:cNvPicPr preferRelativeResize="0"/>
          <p:nvPr/>
        </p:nvPicPr>
        <p:blipFill rotWithShape="1">
          <a:blip r:embed="rId7">
            <a:alphaModFix/>
          </a:blip>
          <a:srcRect b="0" l="0" r="0" t="0"/>
          <a:stretch/>
        </p:blipFill>
        <p:spPr>
          <a:xfrm>
            <a:off x="10988989" y="124113"/>
            <a:ext cx="1202985" cy="409015"/>
          </a:xfrm>
          <a:prstGeom prst="rect">
            <a:avLst/>
          </a:prstGeom>
          <a:noFill/>
          <a:ln>
            <a:noFill/>
          </a:ln>
        </p:spPr>
      </p:pic>
      <p:pic>
        <p:nvPicPr>
          <p:cNvPr id="313" name="Google Shape;313;p15"/>
          <p:cNvPicPr preferRelativeResize="0"/>
          <p:nvPr/>
        </p:nvPicPr>
        <p:blipFill rotWithShape="1">
          <a:blip r:embed="rId8">
            <a:alphaModFix/>
          </a:blip>
          <a:srcRect b="0" l="0" r="0" t="0"/>
          <a:stretch/>
        </p:blipFill>
        <p:spPr>
          <a:xfrm>
            <a:off x="-19" y="581438"/>
            <a:ext cx="489501" cy="4895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cxnSp>
        <p:nvCxnSpPr>
          <p:cNvPr id="319" name="Google Shape;319;p16"/>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pic>
        <p:nvPicPr>
          <p:cNvPr id="320" name="Google Shape;320;p16"/>
          <p:cNvPicPr preferRelativeResize="0"/>
          <p:nvPr/>
        </p:nvPicPr>
        <p:blipFill rotWithShape="1">
          <a:blip r:embed="rId3">
            <a:alphaModFix/>
          </a:blip>
          <a:srcRect b="0" l="0" r="0" t="0"/>
          <a:stretch/>
        </p:blipFill>
        <p:spPr>
          <a:xfrm>
            <a:off x="1341250" y="1400000"/>
            <a:ext cx="9509500" cy="5351938"/>
          </a:xfrm>
          <a:prstGeom prst="rect">
            <a:avLst/>
          </a:prstGeom>
          <a:noFill/>
          <a:ln>
            <a:noFill/>
          </a:ln>
        </p:spPr>
      </p:pic>
      <p:sp>
        <p:nvSpPr>
          <p:cNvPr id="321" name="Google Shape;321;p16"/>
          <p:cNvSpPr/>
          <p:nvPr/>
        </p:nvSpPr>
        <p:spPr>
          <a:xfrm>
            <a:off x="685800" y="39915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MODELING TRANSITION</a:t>
            </a:r>
            <a:endParaRPr sz="1050"/>
          </a:p>
        </p:txBody>
      </p:sp>
      <p:sp>
        <p:nvSpPr>
          <p:cNvPr id="322" name="Google Shape;322;p16"/>
          <p:cNvSpPr/>
          <p:nvPr/>
        </p:nvSpPr>
        <p:spPr>
          <a:xfrm>
            <a:off x="685800" y="685800"/>
            <a:ext cx="108204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2850"/>
              <a:buFont typeface="Arial"/>
              <a:buNone/>
            </a:pPr>
            <a:r>
              <a:rPr b="1" lang="en-US" sz="2850">
                <a:solidFill>
                  <a:srgbClr val="111318"/>
                </a:solidFill>
              </a:rPr>
              <a:t>Gravity changes the role of scaffolding</a:t>
            </a:r>
            <a:endParaRPr sz="1800"/>
          </a:p>
        </p:txBody>
      </p:sp>
      <p:pic>
        <p:nvPicPr>
          <p:cNvPr id="323" name="Google Shape;323;p16"/>
          <p:cNvPicPr preferRelativeResize="0"/>
          <p:nvPr/>
        </p:nvPicPr>
        <p:blipFill rotWithShape="1">
          <a:blip r:embed="rId4">
            <a:alphaModFix/>
          </a:blip>
          <a:srcRect b="0" l="0" r="0" t="0"/>
          <a:stretch/>
        </p:blipFill>
        <p:spPr>
          <a:xfrm>
            <a:off x="-25" y="90326"/>
            <a:ext cx="489505" cy="479715"/>
          </a:xfrm>
          <a:prstGeom prst="rect">
            <a:avLst/>
          </a:prstGeom>
          <a:noFill/>
          <a:ln>
            <a:noFill/>
          </a:ln>
        </p:spPr>
      </p:pic>
      <p:pic>
        <p:nvPicPr>
          <p:cNvPr id="324" name="Google Shape;324;p16"/>
          <p:cNvPicPr preferRelativeResize="0"/>
          <p:nvPr/>
        </p:nvPicPr>
        <p:blipFill rotWithShape="1">
          <a:blip r:embed="rId5">
            <a:alphaModFix/>
          </a:blip>
          <a:srcRect b="0" l="0" r="0" t="0"/>
          <a:stretch/>
        </p:blipFill>
        <p:spPr>
          <a:xfrm>
            <a:off x="9214575" y="84771"/>
            <a:ext cx="505679" cy="505679"/>
          </a:xfrm>
          <a:prstGeom prst="rect">
            <a:avLst/>
          </a:prstGeom>
          <a:noFill/>
          <a:ln>
            <a:noFill/>
          </a:ln>
        </p:spPr>
      </p:pic>
      <p:pic>
        <p:nvPicPr>
          <p:cNvPr id="325" name="Google Shape;325;p16"/>
          <p:cNvPicPr preferRelativeResize="0"/>
          <p:nvPr/>
        </p:nvPicPr>
        <p:blipFill rotWithShape="1">
          <a:blip r:embed="rId6">
            <a:alphaModFix/>
          </a:blip>
          <a:srcRect b="10827" l="12417" r="12694" t="13087"/>
          <a:stretch/>
        </p:blipFill>
        <p:spPr>
          <a:xfrm>
            <a:off x="9790495" y="75772"/>
            <a:ext cx="505683" cy="505683"/>
          </a:xfrm>
          <a:prstGeom prst="rect">
            <a:avLst/>
          </a:prstGeom>
          <a:noFill/>
          <a:ln>
            <a:noFill/>
          </a:ln>
        </p:spPr>
      </p:pic>
      <p:pic>
        <p:nvPicPr>
          <p:cNvPr id="326" name="Google Shape;326;p16"/>
          <p:cNvPicPr preferRelativeResize="0"/>
          <p:nvPr/>
        </p:nvPicPr>
        <p:blipFill rotWithShape="1">
          <a:blip r:embed="rId7">
            <a:alphaModFix/>
          </a:blip>
          <a:srcRect b="14108" l="11687" r="11022" t="14166"/>
          <a:stretch/>
        </p:blipFill>
        <p:spPr>
          <a:xfrm>
            <a:off x="10387351" y="133103"/>
            <a:ext cx="539020" cy="409005"/>
          </a:xfrm>
          <a:prstGeom prst="rect">
            <a:avLst/>
          </a:prstGeom>
          <a:noFill/>
          <a:ln>
            <a:noFill/>
          </a:ln>
        </p:spPr>
      </p:pic>
      <p:pic>
        <p:nvPicPr>
          <p:cNvPr id="327" name="Google Shape;327;p16"/>
          <p:cNvPicPr preferRelativeResize="0"/>
          <p:nvPr/>
        </p:nvPicPr>
        <p:blipFill rotWithShape="1">
          <a:blip r:embed="rId8">
            <a:alphaModFix/>
          </a:blip>
          <a:srcRect b="0" l="0" r="0" t="0"/>
          <a:stretch/>
        </p:blipFill>
        <p:spPr>
          <a:xfrm>
            <a:off x="10988989" y="124113"/>
            <a:ext cx="1202985" cy="409015"/>
          </a:xfrm>
          <a:prstGeom prst="rect">
            <a:avLst/>
          </a:prstGeom>
          <a:noFill/>
          <a:ln>
            <a:noFill/>
          </a:ln>
        </p:spPr>
      </p:pic>
      <p:pic>
        <p:nvPicPr>
          <p:cNvPr id="328" name="Google Shape;328;p16"/>
          <p:cNvPicPr preferRelativeResize="0"/>
          <p:nvPr/>
        </p:nvPicPr>
        <p:blipFill rotWithShape="1">
          <a:blip r:embed="rId9">
            <a:alphaModFix/>
          </a:blip>
          <a:srcRect b="0" l="0" r="0" t="0"/>
          <a:stretch/>
        </p:blipFill>
        <p:spPr>
          <a:xfrm>
            <a:off x="-19" y="581438"/>
            <a:ext cx="489501" cy="4895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p17"/>
          <p:cNvSpPr/>
          <p:nvPr/>
        </p:nvSpPr>
        <p:spPr>
          <a:xfrm>
            <a:off x="685800" y="38100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i="0" lang="en-US" sz="1050">
                <a:solidFill>
                  <a:srgbClr val="3D8DFF"/>
                </a:solidFill>
              </a:rPr>
              <a:t>GEOMETRY</a:t>
            </a:r>
            <a:endParaRPr sz="1800"/>
          </a:p>
        </p:txBody>
      </p:sp>
      <p:sp>
        <p:nvSpPr>
          <p:cNvPr id="335" name="Google Shape;335;p17"/>
          <p:cNvSpPr/>
          <p:nvPr/>
        </p:nvSpPr>
        <p:spPr>
          <a:xfrm>
            <a:off x="685800" y="685800"/>
            <a:ext cx="1082040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2850"/>
              <a:buFont typeface="Arial"/>
              <a:buNone/>
            </a:pPr>
            <a:r>
              <a:rPr b="1" lang="en-US" sz="2850">
                <a:solidFill>
                  <a:srgbClr val="111318"/>
                </a:solidFill>
              </a:rPr>
              <a:t>Zero-gravity cuboids change action semantics</a:t>
            </a:r>
            <a:endParaRPr sz="1800"/>
          </a:p>
        </p:txBody>
      </p:sp>
      <p:cxnSp>
        <p:nvCxnSpPr>
          <p:cNvPr id="336" name="Google Shape;336;p17"/>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pic>
        <p:nvPicPr>
          <p:cNvPr id="337" name="Google Shape;337;p17"/>
          <p:cNvPicPr preferRelativeResize="0"/>
          <p:nvPr/>
        </p:nvPicPr>
        <p:blipFill rotWithShape="1">
          <a:blip r:embed="rId3">
            <a:alphaModFix/>
          </a:blip>
          <a:srcRect b="0" l="0" r="0" t="0"/>
          <a:stretch/>
        </p:blipFill>
        <p:spPr>
          <a:xfrm>
            <a:off x="505206" y="1417320"/>
            <a:ext cx="7447788" cy="4965192"/>
          </a:xfrm>
          <a:prstGeom prst="rect">
            <a:avLst/>
          </a:prstGeom>
          <a:noFill/>
          <a:ln>
            <a:noFill/>
          </a:ln>
        </p:spPr>
      </p:pic>
      <p:sp>
        <p:nvSpPr>
          <p:cNvPr id="338" name="Google Shape;338;p17"/>
          <p:cNvSpPr/>
          <p:nvPr/>
        </p:nvSpPr>
        <p:spPr>
          <a:xfrm>
            <a:off x="8229600" y="1572768"/>
            <a:ext cx="3017400" cy="1417200"/>
          </a:xfrm>
          <a:prstGeom prst="rect">
            <a:avLst/>
          </a:prstGeom>
          <a:solidFill>
            <a:srgbClr val="F2F5F7"/>
          </a:solidFill>
          <a:ln cap="flat" cmpd="sng" w="12700">
            <a:solidFill>
              <a:srgbClr val="D6DEE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SzPts val="1800"/>
              <a:buFont typeface="Arial"/>
              <a:buNone/>
            </a:pPr>
            <a:r>
              <a:t/>
            </a:r>
            <a:endParaRPr sz="1800"/>
          </a:p>
        </p:txBody>
      </p:sp>
      <p:sp>
        <p:nvSpPr>
          <p:cNvPr id="339" name="Google Shape;339;p17"/>
          <p:cNvSpPr/>
          <p:nvPr/>
        </p:nvSpPr>
        <p:spPr>
          <a:xfrm>
            <a:off x="8412480" y="1719072"/>
            <a:ext cx="2651700" cy="11430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1A8CF2"/>
              </a:buClr>
              <a:buSzPts val="1200"/>
              <a:buFont typeface="Arial"/>
              <a:buNone/>
            </a:pPr>
            <a:r>
              <a:rPr b="1" lang="en-US" sz="1200">
                <a:solidFill>
                  <a:srgbClr val="1A8CF2"/>
                </a:solidFill>
              </a:rPr>
              <a:t>PUBLISHED CUBOID-MACC</a:t>
            </a:r>
            <a:endParaRPr b="1" sz="1200">
              <a:solidFill>
                <a:srgbClr val="1A8CF2"/>
              </a:solidFill>
            </a:endParaRPr>
          </a:p>
          <a:p>
            <a:pPr indent="0" lvl="0" marL="0" marR="0" rtl="0" algn="l">
              <a:spcBef>
                <a:spcPts val="0"/>
              </a:spcBef>
              <a:spcAft>
                <a:spcPts val="0"/>
              </a:spcAft>
              <a:buClr>
                <a:srgbClr val="292E33"/>
              </a:buClr>
              <a:buSzPts val="1200"/>
              <a:buFont typeface="Arial"/>
              <a:buNone/>
            </a:pPr>
            <a:r>
              <a:rPr lang="en-US" sz="1200">
                <a:solidFill>
                  <a:srgbClr val="292E33"/>
                </a:solidFill>
              </a:rPr>
              <a:t>Planar translation · yaw rotation · pickup/place · orientation-dependent occupancy</a:t>
            </a:r>
            <a:endParaRPr sz="1200">
              <a:solidFill>
                <a:srgbClr val="292E33"/>
              </a:solidFill>
            </a:endParaRPr>
          </a:p>
        </p:txBody>
      </p:sp>
      <p:sp>
        <p:nvSpPr>
          <p:cNvPr id="340" name="Google Shape;340;p17"/>
          <p:cNvSpPr/>
          <p:nvPr/>
        </p:nvSpPr>
        <p:spPr>
          <a:xfrm>
            <a:off x="8229600" y="3182112"/>
            <a:ext cx="3017400" cy="1828800"/>
          </a:xfrm>
          <a:prstGeom prst="rect">
            <a:avLst/>
          </a:prstGeom>
          <a:solidFill>
            <a:srgbClr val="E3F5FF"/>
          </a:solidFill>
          <a:ln cap="flat" cmpd="sng" w="12700">
            <a:solidFill>
              <a:srgbClr val="8CCC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SzPts val="1800"/>
              <a:buFont typeface="Arial"/>
              <a:buNone/>
            </a:pPr>
            <a:r>
              <a:t/>
            </a:r>
            <a:endParaRPr sz="1800"/>
          </a:p>
        </p:txBody>
      </p:sp>
      <p:sp>
        <p:nvSpPr>
          <p:cNvPr id="341" name="Google Shape;341;p17"/>
          <p:cNvSpPr/>
          <p:nvPr/>
        </p:nvSpPr>
        <p:spPr>
          <a:xfrm>
            <a:off x="8412480" y="3337560"/>
            <a:ext cx="2651700" cy="15546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1A8CF2"/>
              </a:buClr>
              <a:buSzPts val="1200"/>
              <a:buFont typeface="Arial"/>
              <a:buNone/>
            </a:pPr>
            <a:r>
              <a:rPr b="1" lang="en-US" sz="1200">
                <a:solidFill>
                  <a:srgbClr val="1A8CF2"/>
                </a:solidFill>
              </a:rPr>
              <a:t>THESIS EXTENSION</a:t>
            </a:r>
            <a:endParaRPr b="1" sz="1200">
              <a:solidFill>
                <a:srgbClr val="1A8CF2"/>
              </a:solidFill>
            </a:endParaRPr>
          </a:p>
          <a:p>
            <a:pPr indent="0" lvl="0" marL="0" marR="0" rtl="0" algn="l">
              <a:spcBef>
                <a:spcPts val="0"/>
              </a:spcBef>
              <a:spcAft>
                <a:spcPts val="0"/>
              </a:spcAft>
              <a:buClr>
                <a:srgbClr val="1F2B36"/>
              </a:buClr>
              <a:buSzPts val="1200"/>
              <a:buFont typeface="Arial"/>
              <a:buNone/>
            </a:pPr>
            <a:r>
              <a:rPr lang="en-US" sz="1200">
                <a:solidFill>
                  <a:srgbClr val="1F2B36"/>
                </a:solidFill>
              </a:rPr>
              <a:t>3-D traversal · 26-neighbor access poses · length-aware support · depot waiting · placement/removal constraints</a:t>
            </a:r>
            <a:endParaRPr sz="1200">
              <a:solidFill>
                <a:srgbClr val="1F2B36"/>
              </a:solidFill>
            </a:endParaRPr>
          </a:p>
        </p:txBody>
      </p:sp>
      <p:sp>
        <p:nvSpPr>
          <p:cNvPr id="342" name="Google Shape;342;p17"/>
          <p:cNvSpPr/>
          <p:nvPr/>
        </p:nvSpPr>
        <p:spPr>
          <a:xfrm>
            <a:off x="8275320" y="5257800"/>
            <a:ext cx="2926200" cy="7314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4D545C"/>
              </a:buClr>
              <a:buSzPts val="900"/>
              <a:buFont typeface="Arial"/>
              <a:buNone/>
            </a:pPr>
            <a:r>
              <a:rPr lang="en-US" sz="900">
                <a:solidFill>
                  <a:srgbClr val="4D545C"/>
                </a:solidFill>
              </a:rPr>
              <a:t>Yellow: robot</a:t>
            </a:r>
            <a:endParaRPr sz="900">
              <a:solidFill>
                <a:srgbClr val="4D545C"/>
              </a:solidFill>
            </a:endParaRPr>
          </a:p>
          <a:p>
            <a:pPr indent="0" lvl="0" marL="0" marR="0" rtl="0" algn="l">
              <a:spcBef>
                <a:spcPts val="0"/>
              </a:spcBef>
              <a:spcAft>
                <a:spcPts val="0"/>
              </a:spcAft>
              <a:buClr>
                <a:srgbClr val="4D545C"/>
              </a:buClr>
              <a:buSzPts val="900"/>
              <a:buFont typeface="Arial"/>
              <a:buNone/>
            </a:pPr>
            <a:r>
              <a:rPr lang="en-US" sz="900">
                <a:solidFill>
                  <a:srgbClr val="4D545C"/>
                </a:solidFill>
              </a:rPr>
              <a:t>Green: carried cuboid</a:t>
            </a:r>
            <a:endParaRPr sz="900">
              <a:solidFill>
                <a:srgbClr val="4D545C"/>
              </a:solidFill>
            </a:endParaRPr>
          </a:p>
          <a:p>
            <a:pPr indent="0" lvl="0" marL="0" marR="0" rtl="0" algn="l">
              <a:spcBef>
                <a:spcPts val="0"/>
              </a:spcBef>
              <a:spcAft>
                <a:spcPts val="0"/>
              </a:spcAft>
              <a:buClr>
                <a:srgbClr val="4D545C"/>
              </a:buClr>
              <a:buSzPts val="900"/>
              <a:buFont typeface="Arial"/>
              <a:buNone/>
            </a:pPr>
            <a:r>
              <a:rPr lang="en-US" sz="900">
                <a:solidFill>
                  <a:srgbClr val="4D545C"/>
                </a:solidFill>
              </a:rPr>
              <a:t>Magenta: placed/goal cuboid</a:t>
            </a:r>
            <a:endParaRPr sz="900">
              <a:solidFill>
                <a:srgbClr val="4D545C"/>
              </a:solidFill>
            </a:endParaRPr>
          </a:p>
        </p:txBody>
      </p:sp>
      <p:pic>
        <p:nvPicPr>
          <p:cNvPr id="343" name="Google Shape;343;p17"/>
          <p:cNvPicPr preferRelativeResize="0"/>
          <p:nvPr/>
        </p:nvPicPr>
        <p:blipFill rotWithShape="1">
          <a:blip r:embed="rId4">
            <a:alphaModFix/>
          </a:blip>
          <a:srcRect b="0" l="0" r="0" t="0"/>
          <a:stretch/>
        </p:blipFill>
        <p:spPr>
          <a:xfrm>
            <a:off x="-25" y="90326"/>
            <a:ext cx="489505" cy="479715"/>
          </a:xfrm>
          <a:prstGeom prst="rect">
            <a:avLst/>
          </a:prstGeom>
          <a:noFill/>
          <a:ln>
            <a:noFill/>
          </a:ln>
        </p:spPr>
      </p:pic>
      <p:pic>
        <p:nvPicPr>
          <p:cNvPr id="344" name="Google Shape;344;p17"/>
          <p:cNvPicPr preferRelativeResize="0"/>
          <p:nvPr/>
        </p:nvPicPr>
        <p:blipFill rotWithShape="1">
          <a:blip r:embed="rId5">
            <a:alphaModFix/>
          </a:blip>
          <a:srcRect b="0" l="0" r="0" t="0"/>
          <a:stretch/>
        </p:blipFill>
        <p:spPr>
          <a:xfrm>
            <a:off x="9214575" y="84771"/>
            <a:ext cx="505679" cy="505679"/>
          </a:xfrm>
          <a:prstGeom prst="rect">
            <a:avLst/>
          </a:prstGeom>
          <a:noFill/>
          <a:ln>
            <a:noFill/>
          </a:ln>
        </p:spPr>
      </p:pic>
      <p:pic>
        <p:nvPicPr>
          <p:cNvPr id="345" name="Google Shape;345;p17"/>
          <p:cNvPicPr preferRelativeResize="0"/>
          <p:nvPr/>
        </p:nvPicPr>
        <p:blipFill rotWithShape="1">
          <a:blip r:embed="rId6">
            <a:alphaModFix/>
          </a:blip>
          <a:srcRect b="10827" l="12417" r="12694" t="13087"/>
          <a:stretch/>
        </p:blipFill>
        <p:spPr>
          <a:xfrm>
            <a:off x="9790495" y="75772"/>
            <a:ext cx="505683" cy="505683"/>
          </a:xfrm>
          <a:prstGeom prst="rect">
            <a:avLst/>
          </a:prstGeom>
          <a:noFill/>
          <a:ln>
            <a:noFill/>
          </a:ln>
        </p:spPr>
      </p:pic>
      <p:pic>
        <p:nvPicPr>
          <p:cNvPr id="346" name="Google Shape;346;p17"/>
          <p:cNvPicPr preferRelativeResize="0"/>
          <p:nvPr/>
        </p:nvPicPr>
        <p:blipFill rotWithShape="1">
          <a:blip r:embed="rId7">
            <a:alphaModFix/>
          </a:blip>
          <a:srcRect b="14108" l="11687" r="11022" t="14166"/>
          <a:stretch/>
        </p:blipFill>
        <p:spPr>
          <a:xfrm>
            <a:off x="10387351" y="133103"/>
            <a:ext cx="539020" cy="409005"/>
          </a:xfrm>
          <a:prstGeom prst="rect">
            <a:avLst/>
          </a:prstGeom>
          <a:noFill/>
          <a:ln>
            <a:noFill/>
          </a:ln>
        </p:spPr>
      </p:pic>
      <p:pic>
        <p:nvPicPr>
          <p:cNvPr id="347" name="Google Shape;347;p17"/>
          <p:cNvPicPr preferRelativeResize="0"/>
          <p:nvPr/>
        </p:nvPicPr>
        <p:blipFill rotWithShape="1">
          <a:blip r:embed="rId8">
            <a:alphaModFix/>
          </a:blip>
          <a:srcRect b="0" l="0" r="0" t="0"/>
          <a:stretch/>
        </p:blipFill>
        <p:spPr>
          <a:xfrm>
            <a:off x="10988989" y="124113"/>
            <a:ext cx="1202985" cy="409015"/>
          </a:xfrm>
          <a:prstGeom prst="rect">
            <a:avLst/>
          </a:prstGeom>
          <a:noFill/>
          <a:ln>
            <a:noFill/>
          </a:ln>
        </p:spPr>
      </p:pic>
      <p:pic>
        <p:nvPicPr>
          <p:cNvPr id="348" name="Google Shape;348;p17"/>
          <p:cNvPicPr preferRelativeResize="0"/>
          <p:nvPr/>
        </p:nvPicPr>
        <p:blipFill rotWithShape="1">
          <a:blip r:embed="rId9">
            <a:alphaModFix/>
          </a:blip>
          <a:srcRect b="0" l="0" r="0" t="0"/>
          <a:stretch/>
        </p:blipFill>
        <p:spPr>
          <a:xfrm>
            <a:off x="-19" y="581438"/>
            <a:ext cx="489501" cy="4895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3" name="Shape 353"/>
        <p:cNvGrpSpPr/>
        <p:nvPr/>
      </p:nvGrpSpPr>
      <p:grpSpPr>
        <a:xfrm>
          <a:off x="0" y="0"/>
          <a:ext cx="0" cy="0"/>
          <a:chOff x="0" y="0"/>
          <a:chExt cx="0" cy="0"/>
        </a:xfrm>
      </p:grpSpPr>
      <p:cxnSp>
        <p:nvCxnSpPr>
          <p:cNvPr id="354" name="Google Shape;354;p18"/>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sp>
        <p:nvSpPr>
          <p:cNvPr id="355" name="Google Shape;355;p18"/>
          <p:cNvSpPr/>
          <p:nvPr/>
        </p:nvSpPr>
        <p:spPr>
          <a:xfrm>
            <a:off x="685800" y="1666875"/>
            <a:ext cx="4000500" cy="3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2100"/>
              <a:buFont typeface="Arial"/>
              <a:buNone/>
            </a:pPr>
            <a:r>
              <a:rPr lang="en-US" sz="1800"/>
              <a:t>(a) Realization</a:t>
            </a:r>
            <a:endParaRPr sz="1800"/>
          </a:p>
        </p:txBody>
      </p:sp>
      <p:sp>
        <p:nvSpPr>
          <p:cNvPr id="356" name="Google Shape;356;p18"/>
          <p:cNvSpPr/>
          <p:nvPr/>
        </p:nvSpPr>
        <p:spPr>
          <a:xfrm>
            <a:off x="661975" y="2352675"/>
            <a:ext cx="4381500" cy="523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500"/>
              <a:buFont typeface="Arial"/>
              <a:buNone/>
            </a:pPr>
            <a:r>
              <a:rPr lang="en-US" sz="1800"/>
              <a:t>In zero gravity, robots can approach blocks in 3-D; temporary scaffolding is no longer required.</a:t>
            </a:r>
            <a:endParaRPr sz="1800"/>
          </a:p>
        </p:txBody>
      </p:sp>
      <p:sp>
        <p:nvSpPr>
          <p:cNvPr id="357" name="Google Shape;357;p18"/>
          <p:cNvSpPr/>
          <p:nvPr/>
        </p:nvSpPr>
        <p:spPr>
          <a:xfrm>
            <a:off x="685800" y="3286050"/>
            <a:ext cx="4476900" cy="1000200"/>
          </a:xfrm>
          <a:prstGeom prst="rect">
            <a:avLst/>
          </a:prstGeom>
          <a:solidFill>
            <a:srgbClr val="DDF3FC"/>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358" name="Google Shape;358;p18"/>
          <p:cNvSpPr/>
          <p:nvPr/>
        </p:nvSpPr>
        <p:spPr>
          <a:xfrm>
            <a:off x="904875" y="3476550"/>
            <a:ext cx="4048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111318"/>
              </a:buClr>
              <a:buSzPts val="2100"/>
              <a:buFont typeface="Arial"/>
              <a:buNone/>
            </a:pPr>
            <a:r>
              <a:rPr lang="en-US" sz="2100"/>
              <a:t>h(S) = 0</a:t>
            </a:r>
            <a:endParaRPr sz="2100"/>
          </a:p>
        </p:txBody>
      </p:sp>
      <p:sp>
        <p:nvSpPr>
          <p:cNvPr id="359" name="Google Shape;359;p18"/>
          <p:cNvSpPr/>
          <p:nvPr/>
        </p:nvSpPr>
        <p:spPr>
          <a:xfrm>
            <a:off x="995275" y="3933750"/>
            <a:ext cx="4048200" cy="238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E6470"/>
              </a:buClr>
              <a:buSzPts val="1275"/>
              <a:buFont typeface="Arial"/>
              <a:buNone/>
            </a:pPr>
            <a:r>
              <a:rPr lang="en-US" sz="1275"/>
              <a:t>no scaffolding cost</a:t>
            </a:r>
            <a:endParaRPr sz="1275"/>
          </a:p>
        </p:txBody>
      </p:sp>
      <p:sp>
        <p:nvSpPr>
          <p:cNvPr id="360" name="Google Shape;360;p18"/>
          <p:cNvSpPr/>
          <p:nvPr/>
        </p:nvSpPr>
        <p:spPr>
          <a:xfrm>
            <a:off x="685800" y="4429125"/>
            <a:ext cx="4476900" cy="409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800"/>
              <a:buFont typeface="Arial"/>
              <a:buNone/>
            </a:pPr>
            <a:r>
              <a:rPr lang="en-US" sz="1800"/>
              <a:t>Inside-out construction</a:t>
            </a:r>
            <a:endParaRPr sz="1800"/>
          </a:p>
        </p:txBody>
      </p:sp>
      <p:sp>
        <p:nvSpPr>
          <p:cNvPr id="361" name="Google Shape;361;p18"/>
          <p:cNvSpPr/>
          <p:nvPr/>
        </p:nvSpPr>
        <p:spPr>
          <a:xfrm>
            <a:off x="685800" y="5000625"/>
            <a:ext cx="4333800" cy="61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500"/>
              <a:buFont typeface="Arial"/>
              <a:buNone/>
            </a:pPr>
            <a:r>
              <a:rPr lang="en-US" sz="1800"/>
              <a:t>A zero-heuristic search ordered primarily by depth and secondarily by Euclidean distance from the foundation.</a:t>
            </a:r>
            <a:endParaRPr sz="1800"/>
          </a:p>
        </p:txBody>
      </p:sp>
      <p:sp>
        <p:nvSpPr>
          <p:cNvPr id="362" name="Google Shape;362;p18"/>
          <p:cNvSpPr/>
          <p:nvPr/>
        </p:nvSpPr>
        <p:spPr>
          <a:xfrm>
            <a:off x="6191250" y="1714500"/>
            <a:ext cx="5315100" cy="10002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363" name="Google Shape;363;p18"/>
          <p:cNvSpPr/>
          <p:nvPr/>
        </p:nvSpPr>
        <p:spPr>
          <a:xfrm>
            <a:off x="6429375" y="1905000"/>
            <a:ext cx="18096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725"/>
              <a:buFont typeface="Arial"/>
              <a:buNone/>
            </a:pPr>
            <a:r>
              <a:rPr lang="en-US" sz="1550"/>
              <a:t>(b) Depth tie-break</a:t>
            </a:r>
            <a:endParaRPr sz="1550"/>
          </a:p>
        </p:txBody>
      </p:sp>
      <p:sp>
        <p:nvSpPr>
          <p:cNvPr id="364" name="Google Shape;364;p18"/>
          <p:cNvSpPr/>
          <p:nvPr/>
        </p:nvSpPr>
        <p:spPr>
          <a:xfrm>
            <a:off x="8334375" y="1785938"/>
            <a:ext cx="28575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275"/>
              <a:buFont typeface="Arial"/>
              <a:buNone/>
            </a:pPr>
            <a:r>
              <a:rPr lang="en-US" sz="1275"/>
              <a:t>Greater depth first: favor states with more completed block actions.</a:t>
            </a:r>
            <a:endParaRPr sz="1275"/>
          </a:p>
        </p:txBody>
      </p:sp>
      <p:sp>
        <p:nvSpPr>
          <p:cNvPr id="365" name="Google Shape;365;p18"/>
          <p:cNvSpPr/>
          <p:nvPr/>
        </p:nvSpPr>
        <p:spPr>
          <a:xfrm>
            <a:off x="6191250" y="3000375"/>
            <a:ext cx="5315100" cy="10002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366" name="Google Shape;366;p18"/>
          <p:cNvSpPr/>
          <p:nvPr/>
        </p:nvSpPr>
        <p:spPr>
          <a:xfrm>
            <a:off x="6429375" y="3190875"/>
            <a:ext cx="18096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725"/>
              <a:buFont typeface="Arial"/>
              <a:buNone/>
            </a:pPr>
            <a:r>
              <a:rPr lang="en-US" sz="1550">
                <a:solidFill>
                  <a:srgbClr val="111318"/>
                </a:solidFill>
              </a:rPr>
              <a:t>(c) Spatial tie-break</a:t>
            </a:r>
            <a:endParaRPr sz="1550">
              <a:solidFill>
                <a:srgbClr val="111318"/>
              </a:solidFill>
            </a:endParaRPr>
          </a:p>
        </p:txBody>
      </p:sp>
      <p:sp>
        <p:nvSpPr>
          <p:cNvPr id="367" name="Google Shape;367;p18"/>
          <p:cNvSpPr/>
          <p:nvPr/>
        </p:nvSpPr>
        <p:spPr>
          <a:xfrm>
            <a:off x="8334375" y="3162300"/>
            <a:ext cx="28575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275"/>
              <a:buFont typeface="Arial"/>
              <a:buNone/>
            </a:pPr>
            <a:r>
              <a:rPr lang="en-US" sz="1275"/>
              <a:t>Smaller Euclidean distance from the foundation: retain an inside-out spatial preference.</a:t>
            </a:r>
            <a:endParaRPr sz="1275"/>
          </a:p>
        </p:txBody>
      </p:sp>
      <p:sp>
        <p:nvSpPr>
          <p:cNvPr id="368" name="Google Shape;368;p18"/>
          <p:cNvSpPr/>
          <p:nvPr/>
        </p:nvSpPr>
        <p:spPr>
          <a:xfrm>
            <a:off x="6191250" y="4286250"/>
            <a:ext cx="5315100" cy="1000200"/>
          </a:xfrm>
          <a:prstGeom prst="rect">
            <a:avLst/>
          </a:prstGeom>
          <a:solidFill>
            <a:srgbClr val="DDF3FC"/>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369" name="Google Shape;369;p18"/>
          <p:cNvSpPr/>
          <p:nvPr/>
        </p:nvSpPr>
        <p:spPr>
          <a:xfrm>
            <a:off x="6429375" y="4476750"/>
            <a:ext cx="1809600" cy="285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725"/>
              <a:buFont typeface="Arial"/>
              <a:buNone/>
            </a:pPr>
            <a:r>
              <a:rPr lang="en-US" sz="1550">
                <a:solidFill>
                  <a:srgbClr val="3D8DFF"/>
                </a:solidFill>
              </a:rPr>
              <a:t>(d) Why A* is unnecessary?</a:t>
            </a:r>
            <a:endParaRPr sz="1550">
              <a:solidFill>
                <a:srgbClr val="3D8DFF"/>
              </a:solidFill>
            </a:endParaRPr>
          </a:p>
        </p:txBody>
      </p:sp>
      <p:sp>
        <p:nvSpPr>
          <p:cNvPr id="370" name="Google Shape;370;p18"/>
          <p:cNvSpPr/>
          <p:nvPr/>
        </p:nvSpPr>
        <p:spPr>
          <a:xfrm>
            <a:off x="8334375" y="4448175"/>
            <a:ext cx="28575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275"/>
              <a:buFont typeface="Arial"/>
              <a:buNone/>
            </a:pPr>
            <a:r>
              <a:rPr lang="en-US" sz="1275"/>
              <a:t>With no scaffolding, every complete plan uses the same number of block actions; there is no unique optimum.</a:t>
            </a:r>
            <a:endParaRPr sz="1275"/>
          </a:p>
        </p:txBody>
      </p:sp>
      <p:sp>
        <p:nvSpPr>
          <p:cNvPr id="371" name="Google Shape;371;p18"/>
          <p:cNvSpPr/>
          <p:nvPr/>
        </p:nvSpPr>
        <p:spPr>
          <a:xfrm>
            <a:off x="6191250" y="5619750"/>
            <a:ext cx="5315100" cy="514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350"/>
              <a:buFont typeface="Arial"/>
              <a:buNone/>
            </a:pPr>
            <a:r>
              <a:rPr lang="en-US" sz="1350"/>
              <a:t>Across 15 structures, A* took 61.38% longer on average than inside-out (range −26.66% to +390.63%).</a:t>
            </a:r>
            <a:endParaRPr sz="1350"/>
          </a:p>
        </p:txBody>
      </p:sp>
      <p:sp>
        <p:nvSpPr>
          <p:cNvPr id="372" name="Google Shape;372;p18"/>
          <p:cNvSpPr/>
          <p:nvPr/>
        </p:nvSpPr>
        <p:spPr>
          <a:xfrm>
            <a:off x="685800" y="685800"/>
            <a:ext cx="108204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2850"/>
              <a:buFont typeface="Arial"/>
              <a:buNone/>
            </a:pPr>
            <a:r>
              <a:rPr b="1" lang="en-US" sz="2550">
                <a:solidFill>
                  <a:srgbClr val="111318"/>
                </a:solidFill>
              </a:rPr>
              <a:t>Zero gravity removes scaffolding and the need for heuristic search</a:t>
            </a:r>
            <a:endParaRPr b="1" sz="2550">
              <a:solidFill>
                <a:srgbClr val="111318"/>
              </a:solidFill>
            </a:endParaRPr>
          </a:p>
        </p:txBody>
      </p:sp>
      <p:sp>
        <p:nvSpPr>
          <p:cNvPr id="373" name="Google Shape;373;p18"/>
          <p:cNvSpPr/>
          <p:nvPr/>
        </p:nvSpPr>
        <p:spPr>
          <a:xfrm>
            <a:off x="685800" y="38100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ZERO-GRAVITY SEARCH</a:t>
            </a:r>
            <a:endParaRPr sz="1800"/>
          </a:p>
        </p:txBody>
      </p:sp>
      <p:pic>
        <p:nvPicPr>
          <p:cNvPr id="374" name="Google Shape;374;p18"/>
          <p:cNvPicPr preferRelativeResize="0"/>
          <p:nvPr/>
        </p:nvPicPr>
        <p:blipFill rotWithShape="1">
          <a:blip r:embed="rId3">
            <a:alphaModFix/>
          </a:blip>
          <a:srcRect b="0" l="0" r="0" t="0"/>
          <a:stretch/>
        </p:blipFill>
        <p:spPr>
          <a:xfrm>
            <a:off x="-25" y="90326"/>
            <a:ext cx="489505" cy="479715"/>
          </a:xfrm>
          <a:prstGeom prst="rect">
            <a:avLst/>
          </a:prstGeom>
          <a:noFill/>
          <a:ln>
            <a:noFill/>
          </a:ln>
        </p:spPr>
      </p:pic>
      <p:pic>
        <p:nvPicPr>
          <p:cNvPr id="375" name="Google Shape;375;p18"/>
          <p:cNvPicPr preferRelativeResize="0"/>
          <p:nvPr/>
        </p:nvPicPr>
        <p:blipFill rotWithShape="1">
          <a:blip r:embed="rId4">
            <a:alphaModFix/>
          </a:blip>
          <a:srcRect b="0" l="0" r="0" t="0"/>
          <a:stretch/>
        </p:blipFill>
        <p:spPr>
          <a:xfrm>
            <a:off x="9214575" y="84771"/>
            <a:ext cx="505679" cy="505679"/>
          </a:xfrm>
          <a:prstGeom prst="rect">
            <a:avLst/>
          </a:prstGeom>
          <a:noFill/>
          <a:ln>
            <a:noFill/>
          </a:ln>
        </p:spPr>
      </p:pic>
      <p:pic>
        <p:nvPicPr>
          <p:cNvPr id="376" name="Google Shape;376;p18"/>
          <p:cNvPicPr preferRelativeResize="0"/>
          <p:nvPr/>
        </p:nvPicPr>
        <p:blipFill rotWithShape="1">
          <a:blip r:embed="rId5">
            <a:alphaModFix/>
          </a:blip>
          <a:srcRect b="10827" l="12417" r="12694" t="13087"/>
          <a:stretch/>
        </p:blipFill>
        <p:spPr>
          <a:xfrm>
            <a:off x="9790495" y="75772"/>
            <a:ext cx="505683" cy="505683"/>
          </a:xfrm>
          <a:prstGeom prst="rect">
            <a:avLst/>
          </a:prstGeom>
          <a:noFill/>
          <a:ln>
            <a:noFill/>
          </a:ln>
        </p:spPr>
      </p:pic>
      <p:pic>
        <p:nvPicPr>
          <p:cNvPr id="377" name="Google Shape;377;p18"/>
          <p:cNvPicPr preferRelativeResize="0"/>
          <p:nvPr/>
        </p:nvPicPr>
        <p:blipFill rotWithShape="1">
          <a:blip r:embed="rId6">
            <a:alphaModFix/>
          </a:blip>
          <a:srcRect b="14108" l="11687" r="11022" t="14166"/>
          <a:stretch/>
        </p:blipFill>
        <p:spPr>
          <a:xfrm>
            <a:off x="10387351" y="133103"/>
            <a:ext cx="539020" cy="409005"/>
          </a:xfrm>
          <a:prstGeom prst="rect">
            <a:avLst/>
          </a:prstGeom>
          <a:noFill/>
          <a:ln>
            <a:noFill/>
          </a:ln>
        </p:spPr>
      </p:pic>
      <p:pic>
        <p:nvPicPr>
          <p:cNvPr id="378" name="Google Shape;378;p18"/>
          <p:cNvPicPr preferRelativeResize="0"/>
          <p:nvPr/>
        </p:nvPicPr>
        <p:blipFill rotWithShape="1">
          <a:blip r:embed="rId7">
            <a:alphaModFix/>
          </a:blip>
          <a:srcRect b="0" l="0" r="0" t="0"/>
          <a:stretch/>
        </p:blipFill>
        <p:spPr>
          <a:xfrm>
            <a:off x="10988989" y="124113"/>
            <a:ext cx="1202985" cy="409015"/>
          </a:xfrm>
          <a:prstGeom prst="rect">
            <a:avLst/>
          </a:prstGeom>
          <a:noFill/>
          <a:ln>
            <a:noFill/>
          </a:ln>
        </p:spPr>
      </p:pic>
      <p:pic>
        <p:nvPicPr>
          <p:cNvPr id="379" name="Google Shape;379;p18"/>
          <p:cNvPicPr preferRelativeResize="0"/>
          <p:nvPr/>
        </p:nvPicPr>
        <p:blipFill rotWithShape="1">
          <a:blip r:embed="rId8">
            <a:alphaModFix/>
          </a:blip>
          <a:srcRect b="0" l="0" r="0" t="0"/>
          <a:stretch/>
        </p:blipFill>
        <p:spPr>
          <a:xfrm>
            <a:off x="-19" y="581438"/>
            <a:ext cx="489501" cy="4895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4" name="Shape 384"/>
        <p:cNvGrpSpPr/>
        <p:nvPr/>
      </p:nvGrpSpPr>
      <p:grpSpPr>
        <a:xfrm>
          <a:off x="0" y="0"/>
          <a:ext cx="0" cy="0"/>
          <a:chOff x="0" y="0"/>
          <a:chExt cx="0" cy="0"/>
        </a:xfrm>
      </p:grpSpPr>
      <p:pic>
        <p:nvPicPr>
          <p:cNvPr id="385" name="Google Shape;385;p19"/>
          <p:cNvPicPr preferRelativeResize="0"/>
          <p:nvPr/>
        </p:nvPicPr>
        <p:blipFill>
          <a:blip r:embed="rId3">
            <a:alphaModFix/>
          </a:blip>
          <a:stretch>
            <a:fillRect/>
          </a:stretch>
        </p:blipFill>
        <p:spPr>
          <a:xfrm>
            <a:off x="0" y="0"/>
            <a:ext cx="12192000" cy="6858000"/>
          </a:xfrm>
          <a:prstGeom prst="rect">
            <a:avLst/>
          </a:prstGeom>
          <a:noFill/>
          <a:ln>
            <a:noFill/>
          </a:ln>
        </p:spPr>
      </p:pic>
      <p:pic>
        <p:nvPicPr>
          <p:cNvPr id="386" name="Google Shape;386;p19"/>
          <p:cNvPicPr preferRelativeResize="0"/>
          <p:nvPr/>
        </p:nvPicPr>
        <p:blipFill>
          <a:blip r:embed="rId4">
            <a:alphaModFix/>
          </a:blip>
          <a:stretch>
            <a:fillRect/>
          </a:stretch>
        </p:blipFill>
        <p:spPr>
          <a:xfrm>
            <a:off x="-25" y="90326"/>
            <a:ext cx="489505" cy="479715"/>
          </a:xfrm>
          <a:prstGeom prst="rect">
            <a:avLst/>
          </a:prstGeom>
          <a:noFill/>
          <a:ln>
            <a:noFill/>
          </a:ln>
        </p:spPr>
      </p:pic>
      <p:pic>
        <p:nvPicPr>
          <p:cNvPr id="387" name="Google Shape;387;p19"/>
          <p:cNvPicPr preferRelativeResize="0"/>
          <p:nvPr/>
        </p:nvPicPr>
        <p:blipFill>
          <a:blip r:embed="rId5">
            <a:alphaModFix/>
          </a:blip>
          <a:stretch>
            <a:fillRect/>
          </a:stretch>
        </p:blipFill>
        <p:spPr>
          <a:xfrm>
            <a:off x="9214575" y="84771"/>
            <a:ext cx="505679" cy="505679"/>
          </a:xfrm>
          <a:prstGeom prst="rect">
            <a:avLst/>
          </a:prstGeom>
          <a:noFill/>
          <a:ln>
            <a:noFill/>
          </a:ln>
        </p:spPr>
      </p:pic>
      <p:pic>
        <p:nvPicPr>
          <p:cNvPr id="388" name="Google Shape;388;p19"/>
          <p:cNvPicPr preferRelativeResize="0"/>
          <p:nvPr/>
        </p:nvPicPr>
        <p:blipFill rotWithShape="1">
          <a:blip r:embed="rId6">
            <a:alphaModFix/>
          </a:blip>
          <a:srcRect b="10827" l="12417" r="12694" t="13087"/>
          <a:stretch/>
        </p:blipFill>
        <p:spPr>
          <a:xfrm>
            <a:off x="9790495" y="75772"/>
            <a:ext cx="505683" cy="505683"/>
          </a:xfrm>
          <a:prstGeom prst="rect">
            <a:avLst/>
          </a:prstGeom>
          <a:noFill/>
          <a:ln>
            <a:noFill/>
          </a:ln>
        </p:spPr>
      </p:pic>
      <p:pic>
        <p:nvPicPr>
          <p:cNvPr id="389" name="Google Shape;389;p19"/>
          <p:cNvPicPr preferRelativeResize="0"/>
          <p:nvPr/>
        </p:nvPicPr>
        <p:blipFill rotWithShape="1">
          <a:blip r:embed="rId7">
            <a:alphaModFix/>
          </a:blip>
          <a:srcRect b="14108" l="11687" r="11022" t="14166"/>
          <a:stretch/>
        </p:blipFill>
        <p:spPr>
          <a:xfrm>
            <a:off x="10387351" y="133103"/>
            <a:ext cx="539020" cy="409005"/>
          </a:xfrm>
          <a:prstGeom prst="rect">
            <a:avLst/>
          </a:prstGeom>
          <a:noFill/>
          <a:ln>
            <a:noFill/>
          </a:ln>
        </p:spPr>
      </p:pic>
      <p:pic>
        <p:nvPicPr>
          <p:cNvPr id="390" name="Google Shape;390;p19"/>
          <p:cNvPicPr preferRelativeResize="0"/>
          <p:nvPr/>
        </p:nvPicPr>
        <p:blipFill>
          <a:blip r:embed="rId8">
            <a:alphaModFix/>
          </a:blip>
          <a:stretch>
            <a:fillRect/>
          </a:stretch>
        </p:blipFill>
        <p:spPr>
          <a:xfrm>
            <a:off x="10988989" y="124113"/>
            <a:ext cx="1202985" cy="409015"/>
          </a:xfrm>
          <a:prstGeom prst="rect">
            <a:avLst/>
          </a:prstGeom>
          <a:noFill/>
          <a:ln>
            <a:noFill/>
          </a:ln>
        </p:spPr>
      </p:pic>
      <p:pic>
        <p:nvPicPr>
          <p:cNvPr id="391" name="Google Shape;391;p19"/>
          <p:cNvPicPr preferRelativeResize="0"/>
          <p:nvPr/>
        </p:nvPicPr>
        <p:blipFill>
          <a:blip r:embed="rId9">
            <a:alphaModFix/>
          </a:blip>
          <a:stretch>
            <a:fillRect/>
          </a:stretch>
        </p:blipFill>
        <p:spPr>
          <a:xfrm>
            <a:off x="-19" y="581438"/>
            <a:ext cx="489501" cy="4895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0"/>
          <p:cNvSpPr/>
          <p:nvPr/>
        </p:nvSpPr>
        <p:spPr>
          <a:xfrm>
            <a:off x="658368" y="365760"/>
            <a:ext cx="4114800" cy="2742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MULTI-AGENT PLANNING</a:t>
            </a:r>
            <a:endParaRPr b="1" sz="1050">
              <a:solidFill>
                <a:srgbClr val="3D8DFF"/>
              </a:solidFill>
            </a:endParaRPr>
          </a:p>
        </p:txBody>
      </p:sp>
      <p:sp>
        <p:nvSpPr>
          <p:cNvPr id="398" name="Google Shape;398;p20"/>
          <p:cNvSpPr/>
          <p:nvPr/>
        </p:nvSpPr>
        <p:spPr>
          <a:xfrm>
            <a:off x="658368" y="685800"/>
            <a:ext cx="10789800" cy="502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111318"/>
              </a:buClr>
              <a:buSzPts val="2850"/>
              <a:buFont typeface="Arial"/>
              <a:buNone/>
            </a:pPr>
            <a:r>
              <a:rPr b="1" lang="en-US" sz="2850">
                <a:solidFill>
                  <a:srgbClr val="111318"/>
                </a:solidFill>
              </a:rPr>
              <a:t>Modified CBS coordinates robots, cuboids, and depot access</a:t>
            </a:r>
            <a:endParaRPr b="1" sz="2850">
              <a:solidFill>
                <a:srgbClr val="111318"/>
              </a:solidFill>
            </a:endParaRPr>
          </a:p>
        </p:txBody>
      </p:sp>
      <p:sp>
        <p:nvSpPr>
          <p:cNvPr id="399" name="Google Shape;399;p20"/>
          <p:cNvSpPr/>
          <p:nvPr/>
        </p:nvSpPr>
        <p:spPr>
          <a:xfrm>
            <a:off x="658368" y="1298448"/>
            <a:ext cx="10881300" cy="11100"/>
          </a:xfrm>
          <a:prstGeom prst="rect">
            <a:avLst/>
          </a:prstGeom>
          <a:solidFill>
            <a:srgbClr val="B8BDC4"/>
          </a:solidFill>
          <a:ln cap="flat" cmpd="sng" w="9525">
            <a:solidFill>
              <a:srgbClr val="B8BDC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spcBef>
                <a:spcPts val="0"/>
              </a:spcBef>
              <a:spcAft>
                <a:spcPts val="0"/>
              </a:spcAft>
              <a:buSzPts val="1800"/>
              <a:buFont typeface="Arial"/>
              <a:buNone/>
            </a:pPr>
            <a:r>
              <a:t/>
            </a:r>
            <a:endParaRPr sz="1800"/>
          </a:p>
        </p:txBody>
      </p:sp>
      <p:pic>
        <p:nvPicPr>
          <p:cNvPr id="400" name="Google Shape;400;p20"/>
          <p:cNvPicPr preferRelativeResize="0"/>
          <p:nvPr/>
        </p:nvPicPr>
        <p:blipFill>
          <a:blip r:embed="rId3">
            <a:alphaModFix/>
          </a:blip>
          <a:stretch>
            <a:fillRect/>
          </a:stretch>
        </p:blipFill>
        <p:spPr>
          <a:xfrm>
            <a:off x="1267860" y="1353312"/>
            <a:ext cx="9177746" cy="5047489"/>
          </a:xfrm>
          <a:prstGeom prst="rect">
            <a:avLst/>
          </a:prstGeom>
          <a:noFill/>
          <a:ln>
            <a:noFill/>
          </a:ln>
        </p:spPr>
      </p:pic>
      <p:pic>
        <p:nvPicPr>
          <p:cNvPr id="401" name="Google Shape;401;p20"/>
          <p:cNvPicPr preferRelativeResize="0"/>
          <p:nvPr/>
        </p:nvPicPr>
        <p:blipFill rotWithShape="1">
          <a:blip r:embed="rId4">
            <a:alphaModFix/>
          </a:blip>
          <a:srcRect b="0" l="0" r="0" t="0"/>
          <a:stretch/>
        </p:blipFill>
        <p:spPr>
          <a:xfrm>
            <a:off x="-25" y="90326"/>
            <a:ext cx="489505" cy="479715"/>
          </a:xfrm>
          <a:prstGeom prst="rect">
            <a:avLst/>
          </a:prstGeom>
          <a:noFill/>
          <a:ln>
            <a:noFill/>
          </a:ln>
        </p:spPr>
      </p:pic>
      <p:pic>
        <p:nvPicPr>
          <p:cNvPr id="402" name="Google Shape;402;p20"/>
          <p:cNvPicPr preferRelativeResize="0"/>
          <p:nvPr/>
        </p:nvPicPr>
        <p:blipFill rotWithShape="1">
          <a:blip r:embed="rId5">
            <a:alphaModFix/>
          </a:blip>
          <a:srcRect b="0" l="0" r="0" t="0"/>
          <a:stretch/>
        </p:blipFill>
        <p:spPr>
          <a:xfrm>
            <a:off x="9214575" y="84771"/>
            <a:ext cx="505679" cy="505679"/>
          </a:xfrm>
          <a:prstGeom prst="rect">
            <a:avLst/>
          </a:prstGeom>
          <a:noFill/>
          <a:ln>
            <a:noFill/>
          </a:ln>
        </p:spPr>
      </p:pic>
      <p:pic>
        <p:nvPicPr>
          <p:cNvPr id="403" name="Google Shape;403;p20"/>
          <p:cNvPicPr preferRelativeResize="0"/>
          <p:nvPr/>
        </p:nvPicPr>
        <p:blipFill rotWithShape="1">
          <a:blip r:embed="rId6">
            <a:alphaModFix/>
          </a:blip>
          <a:srcRect b="10827" l="12417" r="12694" t="13087"/>
          <a:stretch/>
        </p:blipFill>
        <p:spPr>
          <a:xfrm>
            <a:off x="9790495" y="75772"/>
            <a:ext cx="505683" cy="505683"/>
          </a:xfrm>
          <a:prstGeom prst="rect">
            <a:avLst/>
          </a:prstGeom>
          <a:noFill/>
          <a:ln>
            <a:noFill/>
          </a:ln>
        </p:spPr>
      </p:pic>
      <p:pic>
        <p:nvPicPr>
          <p:cNvPr id="404" name="Google Shape;404;p20"/>
          <p:cNvPicPr preferRelativeResize="0"/>
          <p:nvPr/>
        </p:nvPicPr>
        <p:blipFill rotWithShape="1">
          <a:blip r:embed="rId7">
            <a:alphaModFix/>
          </a:blip>
          <a:srcRect b="14108" l="11687" r="11022" t="14166"/>
          <a:stretch/>
        </p:blipFill>
        <p:spPr>
          <a:xfrm>
            <a:off x="10387351" y="133103"/>
            <a:ext cx="539020" cy="409005"/>
          </a:xfrm>
          <a:prstGeom prst="rect">
            <a:avLst/>
          </a:prstGeom>
          <a:noFill/>
          <a:ln>
            <a:noFill/>
          </a:ln>
        </p:spPr>
      </p:pic>
      <p:pic>
        <p:nvPicPr>
          <p:cNvPr id="405" name="Google Shape;405;p20"/>
          <p:cNvPicPr preferRelativeResize="0"/>
          <p:nvPr/>
        </p:nvPicPr>
        <p:blipFill rotWithShape="1">
          <a:blip r:embed="rId8">
            <a:alphaModFix/>
          </a:blip>
          <a:srcRect b="0" l="0" r="0" t="0"/>
          <a:stretch/>
        </p:blipFill>
        <p:spPr>
          <a:xfrm>
            <a:off x="10988989" y="124113"/>
            <a:ext cx="1202985" cy="409015"/>
          </a:xfrm>
          <a:prstGeom prst="rect">
            <a:avLst/>
          </a:prstGeom>
          <a:noFill/>
          <a:ln>
            <a:noFill/>
          </a:ln>
        </p:spPr>
      </p:pic>
      <p:pic>
        <p:nvPicPr>
          <p:cNvPr id="406" name="Google Shape;406;p20"/>
          <p:cNvPicPr preferRelativeResize="0"/>
          <p:nvPr/>
        </p:nvPicPr>
        <p:blipFill rotWithShape="1">
          <a:blip r:embed="rId9">
            <a:alphaModFix/>
          </a:blip>
          <a:srcRect b="0" l="0" r="0" t="0"/>
          <a:stretch/>
        </p:blipFill>
        <p:spPr>
          <a:xfrm>
            <a:off x="-19" y="581438"/>
            <a:ext cx="489501" cy="4895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 name="Shape 411"/>
        <p:cNvGrpSpPr/>
        <p:nvPr/>
      </p:nvGrpSpPr>
      <p:grpSpPr>
        <a:xfrm>
          <a:off x="0" y="0"/>
          <a:ext cx="0" cy="0"/>
          <a:chOff x="0" y="0"/>
          <a:chExt cx="0" cy="0"/>
        </a:xfrm>
      </p:grpSpPr>
      <p:sp>
        <p:nvSpPr>
          <p:cNvPr id="412" name="Google Shape;412;p21"/>
          <p:cNvSpPr/>
          <p:nvPr/>
        </p:nvSpPr>
        <p:spPr>
          <a:xfrm>
            <a:off x="685800" y="38100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lang="en-US" sz="1050">
                <a:solidFill>
                  <a:srgbClr val="3D8DFF"/>
                </a:solidFill>
              </a:rPr>
              <a:t>RESULTS</a:t>
            </a:r>
            <a:endParaRPr sz="1800"/>
          </a:p>
        </p:txBody>
      </p:sp>
      <p:sp>
        <p:nvSpPr>
          <p:cNvPr id="413" name="Google Shape;413;p21"/>
          <p:cNvSpPr/>
          <p:nvPr/>
        </p:nvSpPr>
        <p:spPr>
          <a:xfrm>
            <a:off x="685800" y="685800"/>
            <a:ext cx="108204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2650"/>
              <a:buFont typeface="Arial"/>
              <a:buNone/>
            </a:pPr>
            <a:r>
              <a:rPr b="1" lang="en-US" sz="2650">
                <a:solidFill>
                  <a:srgbClr val="111318"/>
                </a:solidFill>
              </a:rPr>
              <a:t>Extended the planner from search engineering to 3-D execution</a:t>
            </a:r>
            <a:endParaRPr sz="1200"/>
          </a:p>
        </p:txBody>
      </p:sp>
      <p:cxnSp>
        <p:nvCxnSpPr>
          <p:cNvPr id="414" name="Google Shape;414;p21"/>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sp>
        <p:nvSpPr>
          <p:cNvPr id="415" name="Google Shape;415;p21"/>
          <p:cNvSpPr/>
          <p:nvPr/>
        </p:nvSpPr>
        <p:spPr>
          <a:xfrm>
            <a:off x="5095875" y="1762125"/>
            <a:ext cx="2952900" cy="60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2025"/>
              <a:buFont typeface="Arial"/>
              <a:buNone/>
            </a:pPr>
            <a:r>
              <a:rPr b="1" lang="en-US" sz="2025">
                <a:solidFill>
                  <a:srgbClr val="111318"/>
                </a:solidFill>
              </a:rPr>
              <a:t>(a) Formal and algorithmic</a:t>
            </a:r>
            <a:endParaRPr sz="1800"/>
          </a:p>
        </p:txBody>
      </p:sp>
      <p:sp>
        <p:nvSpPr>
          <p:cNvPr id="416" name="Google Shape;416;p21"/>
          <p:cNvSpPr/>
          <p:nvPr/>
        </p:nvSpPr>
        <p:spPr>
          <a:xfrm>
            <a:off x="5095875" y="2476500"/>
            <a:ext cx="2905200" cy="10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350"/>
              <a:buFont typeface="Arial"/>
              <a:buNone/>
            </a:pPr>
            <a:r>
              <a:rPr lang="en-US" sz="1350">
                <a:solidFill>
                  <a:srgbClr val="5E6470"/>
                </a:solidFill>
              </a:rPr>
              <a:t>Developed the search-based heuristic and caching; evaluated A*, Weighted A*, ARA*, and inside-out construction; extended reachability, support, and action semantics to 3-D cuboids.</a:t>
            </a:r>
            <a:endParaRPr sz="1800"/>
          </a:p>
        </p:txBody>
      </p:sp>
      <p:sp>
        <p:nvSpPr>
          <p:cNvPr id="417" name="Google Shape;417;p21"/>
          <p:cNvSpPr/>
          <p:nvPr/>
        </p:nvSpPr>
        <p:spPr>
          <a:xfrm>
            <a:off x="8524875" y="1762125"/>
            <a:ext cx="24765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2100"/>
              <a:buFont typeface="Arial"/>
              <a:buNone/>
            </a:pPr>
            <a:r>
              <a:rPr b="1" lang="en-US" sz="2100">
                <a:solidFill>
                  <a:srgbClr val="3D8DFF"/>
                </a:solidFill>
              </a:rPr>
              <a:t>(b) Systems and evaluation</a:t>
            </a:r>
            <a:endParaRPr sz="1800"/>
          </a:p>
        </p:txBody>
      </p:sp>
      <p:sp>
        <p:nvSpPr>
          <p:cNvPr id="418" name="Google Shape;418;p21"/>
          <p:cNvSpPr/>
          <p:nvPr/>
        </p:nvSpPr>
        <p:spPr>
          <a:xfrm>
            <a:off x="8524875" y="2428875"/>
            <a:ext cx="2714700" cy="10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350"/>
              <a:buFont typeface="Arial"/>
              <a:buNone/>
            </a:pPr>
            <a:r>
              <a:rPr lang="en-US" sz="1350">
                <a:solidFill>
                  <a:srgbClr val="5E6470"/>
                </a:solidFill>
              </a:rPr>
              <a:t>Implemented the zero-gravity planner, generated ADGs on the zerogravity branch using standard A*, and integrated modified CBS constraints.</a:t>
            </a:r>
            <a:endParaRPr sz="1800"/>
          </a:p>
        </p:txBody>
      </p:sp>
      <p:cxnSp>
        <p:nvCxnSpPr>
          <p:cNvPr id="419" name="Google Shape;419;p21"/>
          <p:cNvCxnSpPr/>
          <p:nvPr/>
        </p:nvCxnSpPr>
        <p:spPr>
          <a:xfrm>
            <a:off x="8143875" y="1666875"/>
            <a:ext cx="0" cy="1714500"/>
          </a:xfrm>
          <a:prstGeom prst="straightConnector1">
            <a:avLst/>
          </a:prstGeom>
          <a:noFill/>
          <a:ln cap="flat" cmpd="sng" w="9525">
            <a:solidFill>
              <a:srgbClr val="B8BCC4"/>
            </a:solidFill>
            <a:prstDash val="solid"/>
            <a:round/>
            <a:headEnd len="sm" w="sm" type="none"/>
            <a:tailEnd len="sm" w="sm" type="none"/>
          </a:ln>
        </p:spPr>
      </p:cxnSp>
      <p:sp>
        <p:nvSpPr>
          <p:cNvPr id="420" name="Google Shape;420;p21"/>
          <p:cNvSpPr/>
          <p:nvPr/>
        </p:nvSpPr>
        <p:spPr>
          <a:xfrm>
            <a:off x="5095875" y="3810000"/>
            <a:ext cx="6143700" cy="1524000"/>
          </a:xfrm>
          <a:prstGeom prst="rect">
            <a:avLst/>
          </a:prstGeom>
          <a:solidFill>
            <a:srgbClr val="DDF3FC"/>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421" name="Google Shape;421;p21"/>
          <p:cNvSpPr/>
          <p:nvPr/>
        </p:nvSpPr>
        <p:spPr>
          <a:xfrm>
            <a:off x="5357813" y="3914775"/>
            <a:ext cx="19050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425"/>
              <a:buFont typeface="Arial"/>
              <a:buNone/>
            </a:pPr>
            <a:r>
              <a:rPr b="1" i="0" lang="en-US" sz="1425">
                <a:solidFill>
                  <a:srgbClr val="3D8DFF"/>
                </a:solidFill>
              </a:rPr>
              <a:t>Central takeaway</a:t>
            </a:r>
            <a:endParaRPr sz="1800"/>
          </a:p>
        </p:txBody>
      </p:sp>
      <p:sp>
        <p:nvSpPr>
          <p:cNvPr id="422" name="Google Shape;422;p21"/>
          <p:cNvSpPr/>
          <p:nvPr/>
        </p:nvSpPr>
        <p:spPr>
          <a:xfrm>
            <a:off x="5357813" y="4295775"/>
            <a:ext cx="5572200" cy="74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500"/>
              <a:buFont typeface="Arial"/>
              <a:buNone/>
            </a:pPr>
            <a:r>
              <a:rPr b="1" lang="en-US" sz="1500">
                <a:solidFill>
                  <a:srgbClr val="111318"/>
                </a:solidFill>
              </a:rPr>
              <a:t>Algorithm choice depended on structure: caching amortized costly heuristic evaluation, while inside-out construction was faster when zero gravity removed scaffolding.</a:t>
            </a:r>
            <a:endParaRPr sz="1800"/>
          </a:p>
        </p:txBody>
      </p:sp>
      <p:sp>
        <p:nvSpPr>
          <p:cNvPr id="423" name="Google Shape;423;p21"/>
          <p:cNvSpPr/>
          <p:nvPr/>
        </p:nvSpPr>
        <p:spPr>
          <a:xfrm>
            <a:off x="5095875" y="5572125"/>
            <a:ext cx="61437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575"/>
              <a:buFont typeface="Arial"/>
              <a:buNone/>
            </a:pPr>
            <a:r>
              <a:rPr b="1" i="0" lang="en-US" sz="1575">
                <a:solidFill>
                  <a:srgbClr val="111318"/>
                </a:solidFill>
              </a:rPr>
              <a:t>Next: couple discrete construction decisions with continuous trajectory optimization and learned models of execution cost.</a:t>
            </a:r>
            <a:endParaRPr sz="1800"/>
          </a:p>
        </p:txBody>
      </p:sp>
      <p:pic>
        <p:nvPicPr>
          <p:cNvPr id="424" name="Google Shape;424;p21" title="cube-2024-11-07_12.52.26-2024-11-16_04.53.37-2024-11-21_23.08.59.mp4">
            <a:hlinkClick r:id="rId3"/>
          </p:cNvPr>
          <p:cNvPicPr preferRelativeResize="0"/>
          <p:nvPr/>
        </p:nvPicPr>
        <p:blipFill>
          <a:blip r:embed="rId4">
            <a:alphaModFix/>
          </a:blip>
          <a:stretch>
            <a:fillRect/>
          </a:stretch>
        </p:blipFill>
        <p:spPr>
          <a:xfrm>
            <a:off x="743025" y="1813738"/>
            <a:ext cx="3876600" cy="3230525"/>
          </a:xfrm>
          <a:prstGeom prst="rect">
            <a:avLst/>
          </a:prstGeom>
          <a:noFill/>
          <a:ln>
            <a:noFill/>
          </a:ln>
        </p:spPr>
      </p:pic>
      <p:sp>
        <p:nvSpPr>
          <p:cNvPr id="425" name="Google Shape;425;p21"/>
          <p:cNvSpPr txBox="1"/>
          <p:nvPr/>
        </p:nvSpPr>
        <p:spPr>
          <a:xfrm>
            <a:off x="749808" y="6144768"/>
            <a:ext cx="4069200" cy="32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solidFill>
                  <a:srgbClr val="525961"/>
                </a:solidFill>
              </a:rPr>
              <a:t>Discrete planning visualization—not physics-based or physical-robot simulation.</a:t>
            </a:r>
            <a:endParaRPr sz="800">
              <a:solidFill>
                <a:srgbClr val="525961"/>
              </a:solidFill>
            </a:endParaRPr>
          </a:p>
        </p:txBody>
      </p:sp>
      <p:pic>
        <p:nvPicPr>
          <p:cNvPr id="426" name="Google Shape;426;p21"/>
          <p:cNvPicPr preferRelativeResize="0"/>
          <p:nvPr/>
        </p:nvPicPr>
        <p:blipFill rotWithShape="1">
          <a:blip r:embed="rId5">
            <a:alphaModFix/>
          </a:blip>
          <a:srcRect b="0" l="0" r="0" t="0"/>
          <a:stretch/>
        </p:blipFill>
        <p:spPr>
          <a:xfrm>
            <a:off x="-25" y="90326"/>
            <a:ext cx="489505" cy="479715"/>
          </a:xfrm>
          <a:prstGeom prst="rect">
            <a:avLst/>
          </a:prstGeom>
          <a:noFill/>
          <a:ln>
            <a:noFill/>
          </a:ln>
        </p:spPr>
      </p:pic>
      <p:pic>
        <p:nvPicPr>
          <p:cNvPr id="427" name="Google Shape;427;p21"/>
          <p:cNvPicPr preferRelativeResize="0"/>
          <p:nvPr/>
        </p:nvPicPr>
        <p:blipFill rotWithShape="1">
          <a:blip r:embed="rId6">
            <a:alphaModFix/>
          </a:blip>
          <a:srcRect b="0" l="0" r="0" t="0"/>
          <a:stretch/>
        </p:blipFill>
        <p:spPr>
          <a:xfrm>
            <a:off x="9214575" y="84771"/>
            <a:ext cx="505679" cy="505679"/>
          </a:xfrm>
          <a:prstGeom prst="rect">
            <a:avLst/>
          </a:prstGeom>
          <a:noFill/>
          <a:ln>
            <a:noFill/>
          </a:ln>
        </p:spPr>
      </p:pic>
      <p:pic>
        <p:nvPicPr>
          <p:cNvPr id="428" name="Google Shape;428;p21"/>
          <p:cNvPicPr preferRelativeResize="0"/>
          <p:nvPr/>
        </p:nvPicPr>
        <p:blipFill rotWithShape="1">
          <a:blip r:embed="rId7">
            <a:alphaModFix/>
          </a:blip>
          <a:srcRect b="10827" l="12417" r="12694" t="13087"/>
          <a:stretch/>
        </p:blipFill>
        <p:spPr>
          <a:xfrm>
            <a:off x="9790495" y="75772"/>
            <a:ext cx="505683" cy="505683"/>
          </a:xfrm>
          <a:prstGeom prst="rect">
            <a:avLst/>
          </a:prstGeom>
          <a:noFill/>
          <a:ln>
            <a:noFill/>
          </a:ln>
        </p:spPr>
      </p:pic>
      <p:pic>
        <p:nvPicPr>
          <p:cNvPr id="429" name="Google Shape;429;p21"/>
          <p:cNvPicPr preferRelativeResize="0"/>
          <p:nvPr/>
        </p:nvPicPr>
        <p:blipFill rotWithShape="1">
          <a:blip r:embed="rId8">
            <a:alphaModFix/>
          </a:blip>
          <a:srcRect b="14108" l="11687" r="11022" t="14166"/>
          <a:stretch/>
        </p:blipFill>
        <p:spPr>
          <a:xfrm>
            <a:off x="10387351" y="133103"/>
            <a:ext cx="539020" cy="409005"/>
          </a:xfrm>
          <a:prstGeom prst="rect">
            <a:avLst/>
          </a:prstGeom>
          <a:noFill/>
          <a:ln>
            <a:noFill/>
          </a:ln>
        </p:spPr>
      </p:pic>
      <p:pic>
        <p:nvPicPr>
          <p:cNvPr id="430" name="Google Shape;430;p21"/>
          <p:cNvPicPr preferRelativeResize="0"/>
          <p:nvPr/>
        </p:nvPicPr>
        <p:blipFill rotWithShape="1">
          <a:blip r:embed="rId9">
            <a:alphaModFix/>
          </a:blip>
          <a:srcRect b="0" l="0" r="0" t="0"/>
          <a:stretch/>
        </p:blipFill>
        <p:spPr>
          <a:xfrm>
            <a:off x="10988989" y="124113"/>
            <a:ext cx="1202985" cy="409015"/>
          </a:xfrm>
          <a:prstGeom prst="rect">
            <a:avLst/>
          </a:prstGeom>
          <a:noFill/>
          <a:ln>
            <a:noFill/>
          </a:ln>
        </p:spPr>
      </p:pic>
      <p:pic>
        <p:nvPicPr>
          <p:cNvPr id="431" name="Google Shape;431;p21"/>
          <p:cNvPicPr preferRelativeResize="0"/>
          <p:nvPr/>
        </p:nvPicPr>
        <p:blipFill rotWithShape="1">
          <a:blip r:embed="rId10">
            <a:alphaModFix/>
          </a:blip>
          <a:srcRect b="0" l="0" r="0" t="0"/>
          <a:stretch/>
        </p:blipFill>
        <p:spPr>
          <a:xfrm>
            <a:off x="-19" y="581438"/>
            <a:ext cx="489501" cy="4895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1000"/>
                                        <p:tgtEl>
                                          <p:spTgt spid="4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6" name="Shape 436"/>
        <p:cNvGrpSpPr/>
        <p:nvPr/>
      </p:nvGrpSpPr>
      <p:grpSpPr>
        <a:xfrm>
          <a:off x="0" y="0"/>
          <a:ext cx="0" cy="0"/>
          <a:chOff x="0" y="0"/>
          <a:chExt cx="0" cy="0"/>
        </a:xfrm>
      </p:grpSpPr>
      <p:sp>
        <p:nvSpPr>
          <p:cNvPr id="437" name="Google Shape;437;p22"/>
          <p:cNvSpPr/>
          <p:nvPr/>
        </p:nvSpPr>
        <p:spPr>
          <a:xfrm>
            <a:off x="6286500" y="0"/>
            <a:ext cx="457200" cy="68580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438" name="Google Shape;438;p22"/>
          <p:cNvSpPr/>
          <p:nvPr/>
        </p:nvSpPr>
        <p:spPr>
          <a:xfrm>
            <a:off x="685800" y="1155025"/>
            <a:ext cx="5334000" cy="200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3700"/>
              <a:buFont typeface="Arial"/>
              <a:buNone/>
            </a:pPr>
            <a:r>
              <a:rPr b="1" i="0" lang="en-US" sz="3700">
                <a:solidFill>
                  <a:srgbClr val="111318"/>
                </a:solidFill>
              </a:rPr>
              <a:t>Kinematic modeling of cable-driven continuum robots</a:t>
            </a:r>
            <a:endParaRPr sz="1200"/>
          </a:p>
        </p:txBody>
      </p:sp>
      <p:cxnSp>
        <p:nvCxnSpPr>
          <p:cNvPr id="439" name="Google Shape;439;p22"/>
          <p:cNvCxnSpPr/>
          <p:nvPr/>
        </p:nvCxnSpPr>
        <p:spPr>
          <a:xfrm>
            <a:off x="685800" y="4762500"/>
            <a:ext cx="4457700" cy="0"/>
          </a:xfrm>
          <a:prstGeom prst="straightConnector1">
            <a:avLst/>
          </a:prstGeom>
          <a:noFill/>
          <a:ln cap="flat" cmpd="sng" w="9525">
            <a:solidFill>
              <a:srgbClr val="B8BCC4"/>
            </a:solidFill>
            <a:prstDash val="solid"/>
            <a:round/>
            <a:headEnd len="sm" w="sm" type="none"/>
            <a:tailEnd len="sm" w="sm" type="none"/>
          </a:ln>
        </p:spPr>
      </p:cxnSp>
      <p:sp>
        <p:nvSpPr>
          <p:cNvPr id="440" name="Google Shape;440;p22"/>
          <p:cNvSpPr/>
          <p:nvPr/>
        </p:nvSpPr>
        <p:spPr>
          <a:xfrm>
            <a:off x="685800" y="5000625"/>
            <a:ext cx="4953000" cy="66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350"/>
              <a:buFont typeface="Arial"/>
              <a:buNone/>
            </a:pPr>
            <a:r>
              <a:rPr b="0" i="0" lang="en-US" sz="1350">
                <a:solidFill>
                  <a:srgbClr val="111318"/>
                </a:solidFill>
              </a:rPr>
              <a:t>Smrithi Lokesh</a:t>
            </a:r>
            <a:endParaRPr sz="1800"/>
          </a:p>
          <a:p>
            <a:pPr indent="0" lvl="0" marL="0" marR="0" rtl="0" algn="l">
              <a:spcBef>
                <a:spcPts val="0"/>
              </a:spcBef>
              <a:spcAft>
                <a:spcPts val="0"/>
              </a:spcAft>
              <a:buClr>
                <a:srgbClr val="111318"/>
              </a:buClr>
              <a:buSzPts val="1350"/>
              <a:buFont typeface="Arial"/>
              <a:buNone/>
            </a:pPr>
            <a:r>
              <a:rPr b="0" i="0" lang="en-US" sz="1350">
                <a:solidFill>
                  <a:srgbClr val="111318"/>
                </a:solidFill>
              </a:rPr>
              <a:t>BITS Pilani · Published: </a:t>
            </a:r>
            <a:r>
              <a:rPr lang="en-US" sz="1350">
                <a:solidFill>
                  <a:srgbClr val="111318"/>
                </a:solidFill>
              </a:rPr>
              <a:t>Mechanism and Machine Theory 200, 2024</a:t>
            </a:r>
            <a:endParaRPr sz="1800"/>
          </a:p>
        </p:txBody>
      </p:sp>
      <p:sp>
        <p:nvSpPr>
          <p:cNvPr id="441" name="Google Shape;441;p22"/>
          <p:cNvSpPr/>
          <p:nvPr/>
        </p:nvSpPr>
        <p:spPr>
          <a:xfrm>
            <a:off x="7010400" y="6267450"/>
            <a:ext cx="4476900" cy="2667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FFFFFF"/>
              </a:buClr>
              <a:buSzPts val="1050"/>
              <a:buFont typeface="Arial"/>
              <a:buNone/>
            </a:pPr>
            <a:r>
              <a:rPr b="1" i="0" lang="en-US" sz="1050">
                <a:solidFill>
                  <a:srgbClr val="FFFFFF"/>
                </a:solidFill>
              </a:rPr>
              <a:t>Variable routing · multi-segment kinematics · experimental validation</a:t>
            </a:r>
            <a:endParaRPr sz="1800"/>
          </a:p>
        </p:txBody>
      </p:sp>
      <p:pic>
        <p:nvPicPr>
          <p:cNvPr id="442" name="Google Shape;442;p22"/>
          <p:cNvPicPr preferRelativeResize="0"/>
          <p:nvPr/>
        </p:nvPicPr>
        <p:blipFill>
          <a:blip r:embed="rId3">
            <a:alphaModFix/>
          </a:blip>
          <a:stretch>
            <a:fillRect/>
          </a:stretch>
        </p:blipFill>
        <p:spPr>
          <a:xfrm>
            <a:off x="7010400" y="447675"/>
            <a:ext cx="4552807" cy="59626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7" name="Shape 447"/>
        <p:cNvGrpSpPr/>
        <p:nvPr/>
      </p:nvGrpSpPr>
      <p:grpSpPr>
        <a:xfrm>
          <a:off x="0" y="0"/>
          <a:ext cx="0" cy="0"/>
          <a:chOff x="0" y="0"/>
          <a:chExt cx="0" cy="0"/>
        </a:xfrm>
      </p:grpSpPr>
      <p:sp>
        <p:nvSpPr>
          <p:cNvPr id="448" name="Google Shape;448;p23"/>
          <p:cNvSpPr/>
          <p:nvPr/>
        </p:nvSpPr>
        <p:spPr>
          <a:xfrm>
            <a:off x="685800" y="38100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i="0" lang="en-US" sz="1050">
                <a:solidFill>
                  <a:srgbClr val="3D8DFF"/>
                </a:solidFill>
              </a:rPr>
              <a:t>KINEMATIC MODELING</a:t>
            </a:r>
            <a:endParaRPr sz="1800"/>
          </a:p>
        </p:txBody>
      </p:sp>
      <p:sp>
        <p:nvSpPr>
          <p:cNvPr id="449" name="Google Shape;449;p23"/>
          <p:cNvSpPr/>
          <p:nvPr/>
        </p:nvSpPr>
        <p:spPr>
          <a:xfrm>
            <a:off x="685800" y="685800"/>
            <a:ext cx="108204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2850"/>
              <a:buFont typeface="Arial"/>
              <a:buNone/>
            </a:pPr>
            <a:r>
              <a:rPr b="1" i="0" lang="en-US" sz="2850">
                <a:solidFill>
                  <a:srgbClr val="111318"/>
                </a:solidFill>
              </a:rPr>
              <a:t>Variable cable routing invalidates constant curvature</a:t>
            </a:r>
            <a:endParaRPr sz="1800"/>
          </a:p>
        </p:txBody>
      </p:sp>
      <p:cxnSp>
        <p:nvCxnSpPr>
          <p:cNvPr id="450" name="Google Shape;450;p23"/>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sp>
        <p:nvSpPr>
          <p:cNvPr id="451" name="Google Shape;451;p23"/>
          <p:cNvSpPr/>
          <p:nvPr/>
        </p:nvSpPr>
        <p:spPr>
          <a:xfrm>
            <a:off x="685800" y="1666875"/>
            <a:ext cx="4762500" cy="362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725"/>
              <a:buFont typeface="Arial"/>
              <a:buNone/>
            </a:pPr>
            <a:r>
              <a:rPr b="1" i="0" lang="en-US" sz="1725">
                <a:solidFill>
                  <a:srgbClr val="111318"/>
                </a:solidFill>
              </a:rPr>
              <a:t>A geometry-based optimization model</a:t>
            </a:r>
            <a:endParaRPr sz="1100"/>
          </a:p>
        </p:txBody>
      </p:sp>
      <p:sp>
        <p:nvSpPr>
          <p:cNvPr id="452" name="Google Shape;452;p23"/>
          <p:cNvSpPr/>
          <p:nvPr/>
        </p:nvSpPr>
        <p:spPr>
          <a:xfrm>
            <a:off x="742950" y="2266950"/>
            <a:ext cx="76200" cy="76200"/>
          </a:xfrm>
          <a:prstGeom prst="rect">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453" name="Google Shape;453;p23"/>
          <p:cNvSpPr/>
          <p:nvPr/>
        </p:nvSpPr>
        <p:spPr>
          <a:xfrm>
            <a:off x="952500" y="2190750"/>
            <a:ext cx="47625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500"/>
              <a:buFont typeface="Arial"/>
              <a:buNone/>
            </a:pPr>
            <a:r>
              <a:rPr b="0" i="0" lang="en-US" sz="1500">
                <a:solidFill>
                  <a:srgbClr val="111318"/>
                </a:solidFill>
              </a:rPr>
              <a:t>Discretized the backbone into constrained 4-bar elements and recovered the deformed profile from cable lengths.</a:t>
            </a:r>
            <a:endParaRPr sz="1800"/>
          </a:p>
        </p:txBody>
      </p:sp>
      <p:sp>
        <p:nvSpPr>
          <p:cNvPr id="454" name="Google Shape;454;p23"/>
          <p:cNvSpPr/>
          <p:nvPr/>
        </p:nvSpPr>
        <p:spPr>
          <a:xfrm>
            <a:off x="742950" y="3086100"/>
            <a:ext cx="76200" cy="76200"/>
          </a:xfrm>
          <a:prstGeom prst="rect">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455" name="Google Shape;455;p23"/>
          <p:cNvSpPr/>
          <p:nvPr/>
        </p:nvSpPr>
        <p:spPr>
          <a:xfrm>
            <a:off x="952500" y="3009900"/>
            <a:ext cx="47625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500"/>
              <a:buFont typeface="Arial"/>
              <a:buNone/>
            </a:pPr>
            <a:r>
              <a:rPr b="0" i="0" lang="en-US" sz="1500">
                <a:solidFill>
                  <a:srgbClr val="111318"/>
                </a:solidFill>
              </a:rPr>
              <a:t>Extended the formulation to spatial bending, varying radial offsets, and independently actuated multi-segment robots.</a:t>
            </a:r>
            <a:endParaRPr sz="1800"/>
          </a:p>
        </p:txBody>
      </p:sp>
      <p:sp>
        <p:nvSpPr>
          <p:cNvPr id="456" name="Google Shape;456;p23"/>
          <p:cNvSpPr/>
          <p:nvPr/>
        </p:nvSpPr>
        <p:spPr>
          <a:xfrm>
            <a:off x="742950" y="3905250"/>
            <a:ext cx="76200" cy="76200"/>
          </a:xfrm>
          <a:prstGeom prst="rect">
            <a:avLst/>
          </a:prstGeom>
          <a:solidFill>
            <a:srgbClr val="3D8DFF"/>
          </a:solidFill>
          <a:ln cap="flat" cmpd="sng" w="9525">
            <a:solidFill>
              <a:srgbClr val="3D8D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457" name="Google Shape;457;p23"/>
          <p:cNvSpPr/>
          <p:nvPr/>
        </p:nvSpPr>
        <p:spPr>
          <a:xfrm>
            <a:off x="952500" y="3829050"/>
            <a:ext cx="47625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500"/>
              <a:buFont typeface="Arial"/>
              <a:buNone/>
            </a:pPr>
            <a:r>
              <a:rPr b="0" i="0" lang="en-US" sz="1500">
                <a:solidFill>
                  <a:srgbClr val="111318"/>
                </a:solidFill>
              </a:rPr>
              <a:t>Solved forward kinematics and obstacle-aware inverse kinematics without requiring a contact-force model.</a:t>
            </a:r>
            <a:endParaRPr sz="1800"/>
          </a:p>
        </p:txBody>
      </p:sp>
      <p:sp>
        <p:nvSpPr>
          <p:cNvPr id="458" name="Google Shape;458;p23"/>
          <p:cNvSpPr/>
          <p:nvPr/>
        </p:nvSpPr>
        <p:spPr>
          <a:xfrm>
            <a:off x="6191250" y="1714500"/>
            <a:ext cx="2381400" cy="20001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459" name="Google Shape;459;p23"/>
          <p:cNvSpPr/>
          <p:nvPr/>
        </p:nvSpPr>
        <p:spPr>
          <a:xfrm>
            <a:off x="6400800" y="2428875"/>
            <a:ext cx="19623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E6470"/>
              </a:buClr>
              <a:buSzPts val="1500"/>
              <a:buFont typeface="Arial"/>
              <a:buNone/>
            </a:pPr>
            <a:r>
              <a:rPr b="1" lang="en-US" sz="1500">
                <a:solidFill>
                  <a:srgbClr val="5E6470"/>
                </a:solidFill>
              </a:rPr>
              <a:t>VARYING OFFSET</a:t>
            </a:r>
            <a:endParaRPr sz="1800"/>
          </a:p>
        </p:txBody>
      </p:sp>
      <p:sp>
        <p:nvSpPr>
          <p:cNvPr id="460" name="Google Shape;460;p23"/>
          <p:cNvSpPr/>
          <p:nvPr/>
        </p:nvSpPr>
        <p:spPr>
          <a:xfrm>
            <a:off x="6400800" y="2752725"/>
            <a:ext cx="19623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858B95"/>
              </a:buClr>
              <a:buSzPts val="1125"/>
              <a:buFont typeface="Arial"/>
              <a:buNone/>
            </a:pPr>
            <a:r>
              <a:rPr lang="en-US" sz="1125">
                <a:solidFill>
                  <a:srgbClr val="858B95"/>
                </a:solidFill>
              </a:rPr>
              <a:t>Cable offset changes along the backbone</a:t>
            </a:r>
            <a:endParaRPr sz="1800"/>
          </a:p>
        </p:txBody>
      </p:sp>
      <p:sp>
        <p:nvSpPr>
          <p:cNvPr id="461" name="Google Shape;461;p23"/>
          <p:cNvSpPr/>
          <p:nvPr/>
        </p:nvSpPr>
        <p:spPr>
          <a:xfrm>
            <a:off x="8858250" y="1714500"/>
            <a:ext cx="2648100" cy="2000100"/>
          </a:xfrm>
          <a:prstGeom prst="rect">
            <a:avLst/>
          </a:prstGeom>
          <a:solidFill>
            <a:srgbClr val="F4F5F6"/>
          </a:solidFill>
          <a:ln cap="flat" cmpd="sng" w="9525">
            <a:solidFill>
              <a:srgbClr val="B8BCC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462" name="Google Shape;462;p23"/>
          <p:cNvSpPr/>
          <p:nvPr/>
        </p:nvSpPr>
        <p:spPr>
          <a:xfrm>
            <a:off x="9067800" y="2428875"/>
            <a:ext cx="2229000" cy="2667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E6470"/>
              </a:buClr>
              <a:buSzPts val="1500"/>
              <a:buFont typeface="Arial"/>
              <a:buNone/>
            </a:pPr>
            <a:r>
              <a:rPr b="1" i="0" lang="en-US" sz="1500">
                <a:solidFill>
                  <a:srgbClr val="5E6470"/>
                </a:solidFill>
              </a:rPr>
              <a:t>MULTI-SEGMENT</a:t>
            </a:r>
            <a:endParaRPr sz="1800"/>
          </a:p>
        </p:txBody>
      </p:sp>
      <p:sp>
        <p:nvSpPr>
          <p:cNvPr id="463" name="Google Shape;463;p23"/>
          <p:cNvSpPr/>
          <p:nvPr/>
        </p:nvSpPr>
        <p:spPr>
          <a:xfrm>
            <a:off x="9067800" y="2752725"/>
            <a:ext cx="22290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858B95"/>
              </a:buClr>
              <a:buSzPts val="1125"/>
              <a:buFont typeface="Arial"/>
              <a:buNone/>
            </a:pPr>
            <a:r>
              <a:rPr b="0" i="0" lang="en-US" sz="1125">
                <a:solidFill>
                  <a:srgbClr val="858B95"/>
                </a:solidFill>
              </a:rPr>
              <a:t>Independent cables shape each segment</a:t>
            </a:r>
            <a:endParaRPr sz="1800"/>
          </a:p>
        </p:txBody>
      </p:sp>
      <p:sp>
        <p:nvSpPr>
          <p:cNvPr id="464" name="Google Shape;464;p23"/>
          <p:cNvSpPr/>
          <p:nvPr/>
        </p:nvSpPr>
        <p:spPr>
          <a:xfrm>
            <a:off x="6191250" y="4753475"/>
            <a:ext cx="5315100" cy="1428900"/>
          </a:xfrm>
          <a:prstGeom prst="rect">
            <a:avLst/>
          </a:prstGeom>
          <a:solidFill>
            <a:srgbClr val="DDF3FC"/>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465" name="Google Shape;465;p23"/>
          <p:cNvSpPr/>
          <p:nvPr/>
        </p:nvSpPr>
        <p:spPr>
          <a:xfrm>
            <a:off x="6448000" y="4191000"/>
            <a:ext cx="2476500" cy="247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425"/>
              <a:buFont typeface="Arial"/>
              <a:buNone/>
            </a:pPr>
            <a:r>
              <a:rPr b="1" i="0" lang="en-US" sz="1425">
                <a:solidFill>
                  <a:srgbClr val="3D8DFF"/>
                </a:solidFill>
              </a:rPr>
              <a:t>Modeling contribution</a:t>
            </a:r>
            <a:endParaRPr sz="1800"/>
          </a:p>
        </p:txBody>
      </p:sp>
      <p:sp>
        <p:nvSpPr>
          <p:cNvPr id="466" name="Google Shape;466;p23"/>
          <p:cNvSpPr/>
          <p:nvPr/>
        </p:nvSpPr>
        <p:spPr>
          <a:xfrm>
            <a:off x="6448000" y="5073000"/>
            <a:ext cx="4667400" cy="647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500"/>
              <a:buFont typeface="Arial"/>
              <a:buNone/>
            </a:pPr>
            <a:r>
              <a:rPr b="1" i="0" lang="en-US" sz="1500">
                <a:solidFill>
                  <a:srgbClr val="111318"/>
                </a:solidFill>
              </a:rPr>
              <a:t>A unified optimization framework maps cable actuation to complex robot profiles beyond circular arcs.</a:t>
            </a:r>
            <a:endParaRPr sz="1800"/>
          </a:p>
        </p:txBody>
      </p:sp>
      <p:pic>
        <p:nvPicPr>
          <p:cNvPr id="467" name="Google Shape;467;p23"/>
          <p:cNvPicPr preferRelativeResize="0"/>
          <p:nvPr/>
        </p:nvPicPr>
        <p:blipFill>
          <a:blip r:embed="rId3">
            <a:alphaModFix/>
          </a:blip>
          <a:stretch>
            <a:fillRect/>
          </a:stretch>
        </p:blipFill>
        <p:spPr>
          <a:xfrm>
            <a:off x="6191250" y="1714500"/>
            <a:ext cx="5315100" cy="29679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2" name="Shape 472"/>
        <p:cNvGrpSpPr/>
        <p:nvPr/>
      </p:nvGrpSpPr>
      <p:grpSpPr>
        <a:xfrm>
          <a:off x="0" y="0"/>
          <a:ext cx="0" cy="0"/>
          <a:chOff x="0" y="0"/>
          <a:chExt cx="0" cy="0"/>
        </a:xfrm>
      </p:grpSpPr>
      <p:sp>
        <p:nvSpPr>
          <p:cNvPr id="473" name="Google Shape;473;p24"/>
          <p:cNvSpPr/>
          <p:nvPr/>
        </p:nvSpPr>
        <p:spPr>
          <a:xfrm>
            <a:off x="685800" y="381000"/>
            <a:ext cx="40005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050"/>
              <a:buFont typeface="Arial"/>
              <a:buNone/>
            </a:pPr>
            <a:r>
              <a:rPr b="1" i="0" lang="en-US" sz="1050">
                <a:solidFill>
                  <a:srgbClr val="3D8DFF"/>
                </a:solidFill>
              </a:rPr>
              <a:t>VALIDATION AND IMPACT</a:t>
            </a:r>
            <a:endParaRPr sz="1800"/>
          </a:p>
        </p:txBody>
      </p:sp>
      <p:sp>
        <p:nvSpPr>
          <p:cNvPr id="474" name="Google Shape;474;p24"/>
          <p:cNvSpPr/>
          <p:nvPr/>
        </p:nvSpPr>
        <p:spPr>
          <a:xfrm>
            <a:off x="685800" y="685800"/>
            <a:ext cx="10820400" cy="552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2650"/>
              <a:buFont typeface="Arial"/>
              <a:buNone/>
            </a:pPr>
            <a:r>
              <a:rPr b="1" lang="en-US" sz="2650">
                <a:solidFill>
                  <a:srgbClr val="111318"/>
                </a:solidFill>
              </a:rPr>
              <a:t>The model predicted physical robot profiles with &lt;5% RMS error</a:t>
            </a:r>
            <a:endParaRPr sz="1200"/>
          </a:p>
        </p:txBody>
      </p:sp>
      <p:cxnSp>
        <p:nvCxnSpPr>
          <p:cNvPr id="475" name="Google Shape;475;p24"/>
          <p:cNvCxnSpPr/>
          <p:nvPr/>
        </p:nvCxnSpPr>
        <p:spPr>
          <a:xfrm>
            <a:off x="685800" y="1323975"/>
            <a:ext cx="10820400" cy="0"/>
          </a:xfrm>
          <a:prstGeom prst="straightConnector1">
            <a:avLst/>
          </a:prstGeom>
          <a:noFill/>
          <a:ln cap="flat" cmpd="sng" w="9525">
            <a:solidFill>
              <a:srgbClr val="B8BCC4"/>
            </a:solidFill>
            <a:prstDash val="solid"/>
            <a:round/>
            <a:headEnd len="sm" w="sm" type="none"/>
            <a:tailEnd len="sm" w="sm" type="none"/>
          </a:ln>
        </p:spPr>
      </p:cxnSp>
      <p:sp>
        <p:nvSpPr>
          <p:cNvPr id="476" name="Google Shape;476;p24"/>
          <p:cNvSpPr/>
          <p:nvPr/>
        </p:nvSpPr>
        <p:spPr>
          <a:xfrm>
            <a:off x="5095875" y="1762125"/>
            <a:ext cx="2952900" cy="60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2025"/>
              <a:buFont typeface="Arial"/>
              <a:buNone/>
            </a:pPr>
            <a:r>
              <a:rPr b="1" lang="en-US" sz="2025">
                <a:solidFill>
                  <a:srgbClr val="111318"/>
                </a:solidFill>
              </a:rPr>
              <a:t>(a) Physical validation</a:t>
            </a:r>
            <a:endParaRPr sz="1800"/>
          </a:p>
        </p:txBody>
      </p:sp>
      <p:sp>
        <p:nvSpPr>
          <p:cNvPr id="477" name="Google Shape;477;p24"/>
          <p:cNvSpPr/>
          <p:nvPr/>
        </p:nvSpPr>
        <p:spPr>
          <a:xfrm>
            <a:off x="5095875" y="2476500"/>
            <a:ext cx="2905200" cy="10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350"/>
              <a:buFont typeface="Arial"/>
              <a:buNone/>
            </a:pPr>
            <a:r>
              <a:rPr b="0" i="0" lang="en-US" sz="1350">
                <a:solidFill>
                  <a:srgbClr val="5E6470"/>
                </a:solidFill>
              </a:rPr>
              <a:t>Compared predicted backbone profiles against multiple planar and spatial deformations on fabricated cable-driven prototypes.</a:t>
            </a:r>
            <a:endParaRPr sz="1800"/>
          </a:p>
        </p:txBody>
      </p:sp>
      <p:sp>
        <p:nvSpPr>
          <p:cNvPr id="478" name="Google Shape;478;p24"/>
          <p:cNvSpPr/>
          <p:nvPr/>
        </p:nvSpPr>
        <p:spPr>
          <a:xfrm>
            <a:off x="8524875" y="1762125"/>
            <a:ext cx="2476500" cy="3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2100"/>
              <a:buFont typeface="Arial"/>
              <a:buNone/>
            </a:pPr>
            <a:r>
              <a:rPr b="1" lang="en-US" sz="2100">
                <a:solidFill>
                  <a:srgbClr val="3D8DFF"/>
                </a:solidFill>
              </a:rPr>
              <a:t>(b) Demonstrated utility</a:t>
            </a:r>
            <a:endParaRPr sz="1800"/>
          </a:p>
        </p:txBody>
      </p:sp>
      <p:sp>
        <p:nvSpPr>
          <p:cNvPr id="479" name="Google Shape;479;p24"/>
          <p:cNvSpPr/>
          <p:nvPr/>
        </p:nvSpPr>
        <p:spPr>
          <a:xfrm>
            <a:off x="8524875" y="2428875"/>
            <a:ext cx="2714700" cy="10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E6470"/>
              </a:buClr>
              <a:buSzPts val="1350"/>
              <a:buFont typeface="Arial"/>
              <a:buNone/>
            </a:pPr>
            <a:r>
              <a:rPr b="0" i="0" lang="en-US" sz="1350">
                <a:solidFill>
                  <a:srgbClr val="5E6470"/>
                </a:solidFill>
              </a:rPr>
              <a:t>Applied the same formulation to obstacle-aware inverse kinematics and a three-segment arm with a variably routed soft gripper.</a:t>
            </a:r>
            <a:endParaRPr sz="1800"/>
          </a:p>
        </p:txBody>
      </p:sp>
      <p:cxnSp>
        <p:nvCxnSpPr>
          <p:cNvPr id="480" name="Google Shape;480;p24"/>
          <p:cNvCxnSpPr/>
          <p:nvPr/>
        </p:nvCxnSpPr>
        <p:spPr>
          <a:xfrm>
            <a:off x="8143875" y="1666875"/>
            <a:ext cx="0" cy="1714500"/>
          </a:xfrm>
          <a:prstGeom prst="straightConnector1">
            <a:avLst/>
          </a:prstGeom>
          <a:noFill/>
          <a:ln cap="flat" cmpd="sng" w="9525">
            <a:solidFill>
              <a:srgbClr val="B8BCC4"/>
            </a:solidFill>
            <a:prstDash val="solid"/>
            <a:round/>
            <a:headEnd len="sm" w="sm" type="none"/>
            <a:tailEnd len="sm" w="sm" type="none"/>
          </a:ln>
        </p:spPr>
      </p:cxnSp>
      <p:sp>
        <p:nvSpPr>
          <p:cNvPr id="481" name="Google Shape;481;p24"/>
          <p:cNvSpPr/>
          <p:nvPr/>
        </p:nvSpPr>
        <p:spPr>
          <a:xfrm>
            <a:off x="5072013" y="4579475"/>
            <a:ext cx="6143700" cy="1524000"/>
          </a:xfrm>
          <a:prstGeom prst="rect">
            <a:avLst/>
          </a:prstGeom>
          <a:solidFill>
            <a:srgbClr val="DDF3FC"/>
          </a:solidFill>
          <a:ln cap="flat" cmpd="sng" w="9525">
            <a:solidFill>
              <a:srgbClr val="6DCB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SzPts val="1800"/>
              <a:buFont typeface="Arial"/>
              <a:buNone/>
            </a:pPr>
            <a:r>
              <a:t/>
            </a:r>
            <a:endParaRPr sz="1800"/>
          </a:p>
        </p:txBody>
      </p:sp>
      <p:sp>
        <p:nvSpPr>
          <p:cNvPr id="482" name="Google Shape;482;p24"/>
          <p:cNvSpPr/>
          <p:nvPr/>
        </p:nvSpPr>
        <p:spPr>
          <a:xfrm>
            <a:off x="5333950" y="4684250"/>
            <a:ext cx="1905000" cy="238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3D8DFF"/>
              </a:buClr>
              <a:buSzPts val="1425"/>
              <a:buFont typeface="Arial"/>
              <a:buNone/>
            </a:pPr>
            <a:r>
              <a:rPr b="1" i="0" lang="en-US" sz="1425">
                <a:solidFill>
                  <a:srgbClr val="3D8DFF"/>
                </a:solidFill>
              </a:rPr>
              <a:t>Central takeaway</a:t>
            </a:r>
            <a:endParaRPr sz="1800"/>
          </a:p>
        </p:txBody>
      </p:sp>
      <p:sp>
        <p:nvSpPr>
          <p:cNvPr id="483" name="Google Shape;483;p24"/>
          <p:cNvSpPr/>
          <p:nvPr/>
        </p:nvSpPr>
        <p:spPr>
          <a:xfrm>
            <a:off x="5333950" y="5065250"/>
            <a:ext cx="5572200" cy="743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11318"/>
              </a:buClr>
              <a:buSzPts val="1500"/>
              <a:buFont typeface="Arial"/>
              <a:buNone/>
            </a:pPr>
            <a:r>
              <a:rPr b="1" i="0" lang="en-US" sz="1500">
                <a:solidFill>
                  <a:srgbClr val="111318"/>
                </a:solidFill>
              </a:rPr>
              <a:t>Cable-routing geometry can be designed for richer shapes while remaining computationally tractable for modeling and control.</a:t>
            </a:r>
            <a:endParaRPr sz="1800"/>
          </a:p>
        </p:txBody>
      </p:sp>
      <p:pic>
        <p:nvPicPr>
          <p:cNvPr id="484" name="Google Shape;484;p24"/>
          <p:cNvPicPr preferRelativeResize="0"/>
          <p:nvPr/>
        </p:nvPicPr>
        <p:blipFill>
          <a:blip r:embed="rId3">
            <a:alphaModFix/>
          </a:blip>
          <a:stretch>
            <a:fillRect/>
          </a:stretch>
        </p:blipFill>
        <p:spPr>
          <a:xfrm>
            <a:off x="233525" y="1409550"/>
            <a:ext cx="4767262" cy="2818903"/>
          </a:xfrm>
          <a:prstGeom prst="rect">
            <a:avLst/>
          </a:prstGeom>
          <a:noFill/>
          <a:ln>
            <a:noFill/>
          </a:ln>
        </p:spPr>
      </p:pic>
      <p:pic>
        <p:nvPicPr>
          <p:cNvPr id="485" name="Google Shape;485;p24"/>
          <p:cNvPicPr preferRelativeResize="0"/>
          <p:nvPr/>
        </p:nvPicPr>
        <p:blipFill>
          <a:blip r:embed="rId4">
            <a:alphaModFix/>
          </a:blip>
          <a:stretch>
            <a:fillRect/>
          </a:stretch>
        </p:blipFill>
        <p:spPr>
          <a:xfrm>
            <a:off x="52375" y="4399590"/>
            <a:ext cx="5019700" cy="179003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